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5" r:id="rId6"/>
    <p:sldId id="260" r:id="rId7"/>
    <p:sldId id="261" r:id="rId8"/>
    <p:sldId id="262" r:id="rId9"/>
    <p:sldId id="263" r:id="rId10"/>
    <p:sldId id="264"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629"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1870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[15초] 안녕하세요, 팀 대인배입니다. 저희가 만든 건 '작업 기록'입니다. "어제 어디까지 했지?", "이번 주에 뭐 했지?"라는 질문에 기억이 아니라 실제 작업 기록으로 답해 주는 앱입니다. AI가 주간보고를 대신 써 주고, 문장마다 어디서 나온 내용인지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금요일 오후에 주간보고를 쓰려고 하면 이런 말이 나옵니다. 그 일 어디까지 했더라, 이번 주에 뭐 했지. 한 일의 흔적은 코드, 메신저, 웹페이지, 문서에 흩어져 있어서 결국 기억으로 씁니다. 그러다 보니 빠뜨리거나 부풀리게 되고, ChatGPT에 물어봐도 내가 한 일은 모릅니다.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그래서 세 단계로 만들었습니다. 첫째, 작업 폴더를 5분마다 살펴서 바뀐 파일과 바뀐 내용을 자동으로 저장합니다. 어떤 프로그램을 언제 썼는지도 함께 남깁니다. 둘째, 그걸 프로젝트별 시간표로 정리해 보여 줍니다. 여기까지는 AI 없이 됩니다. 셋째, AI가 그 기록만 보고 주간보고 초안을 쓰고 질문에 답하는데, 문장마다 출처가 붙습니다.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가장 중요한 차별점입니다. AI는 문장을 쓰고, 프로그램은 그 문장이 기록에 있는지 검사합니다. 보고서의 문장마다 출처가 붙고, 누르면 그 기록으로 갑니다. AI가 확인하지도 않은 출처를 대면 프로그램이 지웁니다. '완료했다'는 말은 내가 메모에 적었을 때만 쓰게 하고, 기록에 없는 건 찾지 못했다고 답합니다.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어떤 도구로 만들었고 AI를 어디에 썼는지입니다. 기록하고, 묶고, 출처를 검사하고, 비밀값을 가리는 일은 정해진 규칙대로 프로그램이 합니다. AI는 글을 쓰는 일, 그리고 질문을 받으면 내 기록을 직접 찾아 답하는 일에만 씁니다. AI는 Claude Code와 Sonnet 모델을 쓰고, MCP라는 연결 방식으로 내 기록을 읽습니다. 개발 과정에서도 Claude Code로 코드를 작성하고, 테스트와 보안 점검, 보고서 품질 시험까지 AI로 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실제 화면입니다. 하루 기록에 작업 시간표와 고친 파일이 함께 나옵니다. 파일 이름을 누르면 그때 무엇을 바꿨는지 보여 줍니다. 초록 줄이 새로 쓴 내용입니다. 단순히 어떤 창을 띄웠는지만 재는 시간 측정 앱과 달리, 실제로 고친 결과물이 기록의 중심입니다.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보고서 화면에서 'AI 초안 만들기'를 누르면 10초 안팎으로 주간보고 초안이 나옵니다. 왼쪽은 고칠 수 있는 초안이고, 오른쪽은 문장마다 어느 기록에서 나왔는지 보여 줍니다. 주황색은 고친 파일, 초록색은 내 메모입니다. 출처가 없는 문장에는 '근거 없음' 표시가 붙어서 사람이 확인하게 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이번엔 물어보기입니다. "지난주 GOV-1418 어디까지 했지?"라고 물으면 AI가 내 기록을 직접 찾아보고 날짜별로 답하면서 출처를 붙입니다. 기록에 없는 일, 예를 들어 "AI 기본법 대응 어디까지 했지?"라고 물으면 지어내지 않고 기록에서 찾지 못했다고 답합니다. 개발자는 평소 쓰는 AI 코딩 도구 안에서도 똑같이 물어볼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숫자는 직접 재 본 것만 적었습니다. 가상의 개발자 2주 기록으로 주간보고와 업무일지를 8번 만들어서, 꼭 들어가야 할 내용이 빠지지 않았는지, 안 끝난 일을 '완료'라고 부풀리지 않았는지 검사했고 8번 모두 통과했습니다. 초안 한 건에 7초 남짓 걸립니다. 실제 업무에서 시간이 얼마나 줄었는지는 지금 재는 중이라 짐작한 숫자는 넣지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회사가 깔면 감시하는 것 아니냐는 질문이 나올 수 있습니다. 기록은 내 PC에만 있고, 회사로 보내는 기능 자체가 없습니다. AI는 내가 켜기 전까지 꺼져 있고, 무엇을 보내는지 미리 볼 수 있습니다. 비밀번호 같은 값은 보내기 전에 가리고, AI는 기록을 읽기만 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321"/>
            <a:ext cx="10566400" cy="473551"/>
          </a:xfrm>
          <a:prstGeom prst="rect">
            <a:avLst/>
          </a:prstGeom>
          <a:noFill/>
          <a:ln/>
        </p:spPr>
        <p:txBody>
          <a:bodyPr wrap="square" lIns="0" tIns="0" rIns="0" bIns="0" rtlCol="0" anchor="t"/>
          <a:lstStyle>
            <a:lvl1pPr marL="0" indent="0" algn="l">
              <a:lnSpc>
                <a:spcPct val="115000"/>
              </a:lnSpc>
              <a:buNone/>
              <a:defRPr lang="en-US" sz="3274" dirty="0">
                <a:solidFill>
                  <a:srgbClr val="15202B"/>
                </a:solidFill>
                <a:latin typeface="Arial" pitchFamily="34" charset="0"/>
                <a:ea typeface="Arial" pitchFamily="34" charset="-122"/>
                <a:cs typeface="Arial" pitchFamily="34" charset="-120"/>
              </a:defRPr>
            </a:lvl1pPr>
          </a:lstStyle>
          <a:p>
            <a:pPr marL="0" indent="0" algn="l">
              <a:lnSpc>
                <a:spcPct val="115000"/>
              </a:lnSpc>
              <a:buNone/>
            </a:pPr>
            <a:endParaRPr lang="en-US" sz="3274" dirty="0"/>
          </a:p>
        </p:txBody>
      </p:sp>
      <p:sp>
        <p:nvSpPr>
          <p:cNvPr id="3" name="Text Placeholder 2"/>
          <p:cNvSpPr>
            <a:spLocks noGrp="1"/>
          </p:cNvSpPr>
          <p:nvPr>
            <p:ph type="body" idx="101"/>
          </p:nvPr>
        </p:nvSpPr>
        <p:spPr>
          <a:xfrm>
            <a:off x="812800" y="1941673"/>
            <a:ext cx="10566400" cy="4103527"/>
          </a:xfrm>
          <a:prstGeom prst="rect">
            <a:avLst/>
          </a:prstGeom>
          <a:noFill/>
          <a:ln/>
        </p:spPr>
        <p:txBody>
          <a:bodyPr wrap="square" lIns="0" tIns="0" rIns="0" bIns="0" rtlCol="0" anchor="t"/>
          <a:lstStyle>
            <a:lvl1pPr marL="0" indent="0" algn="l">
              <a:lnSpc>
                <a:spcPct val="140000"/>
              </a:lnSpc>
              <a:buNone/>
              <a:defRPr lang="en-US" sz="1600" dirty="0">
                <a:solidFill>
                  <a:srgbClr val="15202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321"/>
            <a:ext cx="10566400" cy="473551"/>
          </a:xfrm>
          <a:prstGeom prst="rect">
            <a:avLst/>
          </a:prstGeom>
          <a:noFill/>
          <a:ln/>
        </p:spPr>
        <p:txBody>
          <a:bodyPr wrap="square" lIns="0" tIns="0" rIns="0" bIns="0" rtlCol="0" anchor="t"/>
          <a:lstStyle>
            <a:lvl1pPr marL="0" indent="0" algn="l">
              <a:lnSpc>
                <a:spcPct val="115000"/>
              </a:lnSpc>
              <a:buNone/>
              <a:defRPr lang="en-US" sz="3274" dirty="0">
                <a:solidFill>
                  <a:srgbClr val="15202B"/>
                </a:solidFill>
                <a:latin typeface="Arial" pitchFamily="34" charset="0"/>
                <a:ea typeface="Arial" pitchFamily="34" charset="-122"/>
                <a:cs typeface="Arial" pitchFamily="34" charset="-120"/>
              </a:defRPr>
            </a:lvl1pPr>
          </a:lstStyle>
          <a:p>
            <a:pPr marL="0" indent="0" algn="l">
              <a:lnSpc>
                <a:spcPct val="115000"/>
              </a:lnSpc>
              <a:buNone/>
            </a:pPr>
            <a:endParaRPr lang="en-US" sz="3274" dirty="0"/>
          </a:p>
        </p:txBody>
      </p:sp>
      <p:sp>
        <p:nvSpPr>
          <p:cNvPr id="3" name="Text Placeholder 2"/>
          <p:cNvSpPr>
            <a:spLocks noGrp="1"/>
          </p:cNvSpPr>
          <p:nvPr>
            <p:ph type="body" idx="101"/>
          </p:nvPr>
        </p:nvSpPr>
        <p:spPr>
          <a:xfrm>
            <a:off x="812800" y="1941673"/>
            <a:ext cx="10566400" cy="4103527"/>
          </a:xfrm>
          <a:prstGeom prst="rect">
            <a:avLst/>
          </a:prstGeom>
          <a:noFill/>
          <a:ln/>
        </p:spPr>
        <p:txBody>
          <a:bodyPr wrap="square" lIns="0" tIns="0" rIns="0" bIns="0" rtlCol="0" anchor="t"/>
          <a:lstStyle>
            <a:lvl1pPr marL="0" indent="0" algn="l">
              <a:lnSpc>
                <a:spcPct val="140000"/>
              </a:lnSpc>
              <a:buNone/>
              <a:defRPr lang="en-US" sz="1600" dirty="0">
                <a:solidFill>
                  <a:srgbClr val="15202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F0A35E"/>
                </a:solidFill>
                <a:latin typeface="Arial" pitchFamily="34" charset="0"/>
                <a:ea typeface="Arial" pitchFamily="34" charset="-122"/>
                <a:cs typeface="Arial" pitchFamily="34" charset="-120"/>
              </a:rPr>
              <a:t>SOLIDEO AX HACKATHON 2026</a:t>
            </a:r>
            <a:endParaRPr lang="en-US" sz="1400" dirty="0"/>
          </a:p>
        </p:txBody>
      </p:sp>
      <p:sp>
        <p:nvSpPr>
          <p:cNvPr id="3" name="Text 1"/>
          <p:cNvSpPr>
            <a:spLocks noGrp="1"/>
          </p:cNvSpPr>
          <p:nvPr>
            <p:ph type="title"/>
          </p:nvPr>
        </p:nvSpPr>
        <p:spPr>
          <a:xfrm>
            <a:off x="812800" y="1906588"/>
            <a:ext cx="10883392" cy="1025525"/>
          </a:xfrm>
          <a:prstGeom prst="rect">
            <a:avLst/>
          </a:prstGeom>
          <a:noFill/>
          <a:ln/>
        </p:spPr>
        <p:txBody>
          <a:bodyPr wrap="square" lIns="0" tIns="0" rIns="0" bIns="0" rtlCol="0" anchor="t">
            <a:normAutofit/>
          </a:bodyPr>
          <a:lstStyle/>
          <a:p>
            <a:pPr marL="0" indent="0" algn="l">
              <a:lnSpc>
                <a:spcPts val="7875"/>
              </a:lnSpc>
              <a:buNone/>
            </a:pPr>
            <a:r>
              <a:rPr lang="en-US" sz="7500" b="1" i="0" dirty="0" err="1">
                <a:solidFill>
                  <a:srgbClr val="F6F5F1"/>
                </a:solidFill>
                <a:latin typeface="Arial" pitchFamily="34" charset="0"/>
                <a:ea typeface="Arial" pitchFamily="34" charset="-122"/>
                <a:cs typeface="Arial" pitchFamily="34" charset="-120"/>
              </a:rPr>
              <a:t>작업</a:t>
            </a:r>
            <a:r>
              <a:rPr lang="en-US" sz="7500" b="1" i="0" dirty="0">
                <a:solidFill>
                  <a:srgbClr val="F6F5F1"/>
                </a:solidFill>
                <a:latin typeface="Arial" pitchFamily="34" charset="0"/>
                <a:ea typeface="Arial" pitchFamily="34" charset="-122"/>
                <a:cs typeface="Arial" pitchFamily="34" charset="-120"/>
              </a:rPr>
              <a:t> </a:t>
            </a:r>
            <a:r>
              <a:rPr lang="en-US" sz="7500" b="1" i="0" dirty="0" err="1">
                <a:solidFill>
                  <a:srgbClr val="F6F5F1"/>
                </a:solidFill>
                <a:latin typeface="Arial" pitchFamily="34" charset="0"/>
                <a:ea typeface="Arial" pitchFamily="34" charset="-122"/>
                <a:cs typeface="Arial" pitchFamily="34" charset="-120"/>
              </a:rPr>
              <a:t>기록</a:t>
            </a:r>
            <a:r>
              <a:rPr lang="en-US" sz="7500" b="1" i="0" dirty="0">
                <a:solidFill>
                  <a:srgbClr val="F6F5F1"/>
                </a:solidFill>
                <a:latin typeface="Arial" pitchFamily="34" charset="0"/>
                <a:ea typeface="Arial" pitchFamily="34" charset="-122"/>
                <a:cs typeface="Arial" pitchFamily="34" charset="-120"/>
              </a:rPr>
              <a:t> </a:t>
            </a:r>
            <a:r>
              <a:rPr lang="ko-KR" altLang="en-US" sz="7500" b="1" i="0" dirty="0">
                <a:solidFill>
                  <a:srgbClr val="F6F5F1"/>
                </a:solidFill>
                <a:latin typeface="Arial" pitchFamily="34" charset="0"/>
                <a:ea typeface="Arial" pitchFamily="34" charset="-122"/>
                <a:cs typeface="Arial" pitchFamily="34" charset="-120"/>
              </a:rPr>
              <a:t>앱</a:t>
            </a:r>
            <a:endParaRPr lang="en-US" sz="7500" dirty="0"/>
          </a:p>
        </p:txBody>
      </p:sp>
      <p:sp>
        <p:nvSpPr>
          <p:cNvPr id="4" name="Text 2"/>
          <p:cNvSpPr/>
          <p:nvPr/>
        </p:nvSpPr>
        <p:spPr>
          <a:xfrm>
            <a:off x="812800" y="3160713"/>
            <a:ext cx="10883392" cy="916940"/>
          </a:xfrm>
          <a:prstGeom prst="rect">
            <a:avLst/>
          </a:prstGeom>
          <a:noFill/>
          <a:ln/>
        </p:spPr>
        <p:txBody>
          <a:bodyPr wrap="square" lIns="0" tIns="0" rIns="0" bIns="0" rtlCol="0" anchor="t">
            <a:normAutofit/>
          </a:bodyPr>
          <a:lstStyle/>
          <a:p>
            <a:pPr marL="0" indent="0" algn="l">
              <a:lnSpc>
                <a:spcPts val="3510"/>
              </a:lnSpc>
              <a:buNone/>
            </a:pPr>
            <a:r>
              <a:rPr lang="en-US" sz="2600" dirty="0">
                <a:solidFill>
                  <a:srgbClr val="F6F5F1"/>
                </a:solidFill>
                <a:latin typeface="Arial" pitchFamily="34" charset="0"/>
                <a:ea typeface="Arial" pitchFamily="34" charset="-122"/>
                <a:cs typeface="Arial" pitchFamily="34" charset="-120"/>
              </a:rPr>
              <a:t>“어제 어디까지 했지?”에</a:t>
            </a:r>
            <a:endParaRPr lang="en-US" sz="2600" dirty="0"/>
          </a:p>
          <a:p>
            <a:pPr marL="0" indent="0" algn="l">
              <a:lnSpc>
                <a:spcPts val="3510"/>
              </a:lnSpc>
              <a:buNone/>
            </a:pPr>
            <a:r>
              <a:rPr lang="en-US" sz="2600" dirty="0">
                <a:solidFill>
                  <a:srgbClr val="7FA8F0"/>
                </a:solidFill>
                <a:latin typeface="Arial" pitchFamily="34" charset="0"/>
                <a:ea typeface="Arial" pitchFamily="34" charset="-122"/>
                <a:cs typeface="Arial" pitchFamily="34" charset="-120"/>
              </a:rPr>
              <a:t>내 작업 기록으로 답해 주는</a:t>
            </a:r>
            <a:r>
              <a:rPr lang="en-US" sz="2600" dirty="0">
                <a:solidFill>
                  <a:srgbClr val="F6F5F1"/>
                </a:solidFill>
                <a:latin typeface="Arial" pitchFamily="34" charset="0"/>
                <a:ea typeface="Arial" pitchFamily="34" charset="-122"/>
                <a:cs typeface="Arial" pitchFamily="34" charset="-120"/>
              </a:rPr>
              <a:t> 앱</a:t>
            </a:r>
            <a:endParaRPr lang="en-US" sz="2600" dirty="0"/>
          </a:p>
        </p:txBody>
      </p:sp>
      <p:sp>
        <p:nvSpPr>
          <p:cNvPr id="5" name="Text 3"/>
          <p:cNvSpPr/>
          <p:nvPr/>
        </p:nvSpPr>
        <p:spPr>
          <a:xfrm>
            <a:off x="812800" y="4306253"/>
            <a:ext cx="10883392"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B8C4D0"/>
                </a:solidFill>
                <a:latin typeface="Arial" pitchFamily="34" charset="0"/>
                <a:ea typeface="Arial" pitchFamily="34" charset="-122"/>
                <a:cs typeface="Arial" pitchFamily="34" charset="-120"/>
              </a:rPr>
              <a:t>내가 고친 파일을 자동으로 기록해 두고, AI가 그 기록만 보고 주간보고를 대신 써 줍니다.</a:t>
            </a:r>
            <a:endParaRPr lang="en-US" sz="1600" dirty="0"/>
          </a:p>
          <a:p>
            <a:pPr marL="0" indent="0" algn="l">
              <a:lnSpc>
                <a:spcPts val="2400"/>
              </a:lnSpc>
              <a:buNone/>
            </a:pPr>
            <a:r>
              <a:rPr lang="en-US" sz="1600" dirty="0">
                <a:solidFill>
                  <a:srgbClr val="B8C4D0"/>
                </a:solidFill>
                <a:latin typeface="Arial" pitchFamily="34" charset="0"/>
                <a:ea typeface="Arial" pitchFamily="34" charset="-122"/>
                <a:cs typeface="Arial" pitchFamily="34" charset="-120"/>
              </a:rPr>
              <a:t>문장마다 “어디서 나온 내용인지”도 함께 보여 줍니다.</a:t>
            </a:r>
            <a:endParaRPr lang="en-US" sz="1600" dirty="0"/>
          </a:p>
        </p:txBody>
      </p:sp>
      <p:sp>
        <p:nvSpPr>
          <p:cNvPr id="6" name="Text 4"/>
          <p:cNvSpPr/>
          <p:nvPr/>
        </p:nvSpPr>
        <p:spPr>
          <a:xfrm>
            <a:off x="812800" y="5760720"/>
            <a:ext cx="104317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5F1"/>
                </a:solidFill>
                <a:latin typeface="Arial" pitchFamily="34" charset="0"/>
                <a:ea typeface="Arial" pitchFamily="34" charset="-122"/>
                <a:cs typeface="Arial" pitchFamily="34" charset="-120"/>
              </a:rPr>
              <a:t>팀 대인배</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4621C"/>
                </a:solidFill>
                <a:latin typeface="Arial" pitchFamily="34" charset="0"/>
                <a:ea typeface="Arial" pitchFamily="34" charset="-122"/>
                <a:cs typeface="Arial" pitchFamily="34" charset="-120"/>
              </a:rPr>
              <a:t>01 · 문제</a:t>
            </a:r>
            <a:endParaRPr lang="en-US" sz="1400" dirty="0"/>
          </a:p>
        </p:txBody>
      </p:sp>
      <p:sp>
        <p:nvSpPr>
          <p:cNvPr id="3" name="Text 1"/>
          <p:cNvSpPr>
            <a:spLocks noGrp="1"/>
          </p:cNvSpPr>
          <p:nvPr>
            <p:ph type="title"/>
          </p:nvPr>
        </p:nvSpPr>
        <p:spPr>
          <a:xfrm>
            <a:off x="812800" y="1163320"/>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Arial" pitchFamily="34" charset="0"/>
                <a:ea typeface="Arial" pitchFamily="34" charset="-122"/>
                <a:cs typeface="Arial" pitchFamily="34" charset="-120"/>
              </a:rPr>
              <a:t>금요일 오후, 주간보고 앞에서</a:t>
            </a:r>
            <a:endParaRPr lang="en-US" sz="3600" dirty="0"/>
          </a:p>
        </p:txBody>
      </p:sp>
      <p:sp>
        <p:nvSpPr>
          <p:cNvPr id="4" name="Text 2"/>
          <p:cNvSpPr/>
          <p:nvPr/>
        </p:nvSpPr>
        <p:spPr>
          <a:xfrm>
            <a:off x="819150" y="2750820"/>
            <a:ext cx="4711700" cy="668020"/>
          </a:xfrm>
          <a:prstGeom prst="roundRect">
            <a:avLst>
              <a:gd name="adj" fmla="val 37072"/>
            </a:avLst>
          </a:prstGeom>
          <a:solidFill>
            <a:srgbClr val="FFFFFF"/>
          </a:solidFill>
          <a:ln w="12700">
            <a:solidFill>
              <a:srgbClr val="D9D6CC"/>
            </a:solidFill>
            <a:prstDash val="solid"/>
          </a:ln>
        </p:spPr>
        <p:txBody>
          <a:bodyPr wrap="square" lIns="185276" tIns="83676" rIns="59393" bIns="58276" rtlCol="0" anchor="t">
            <a:normAutofit/>
          </a:bodyPr>
          <a:lstStyle/>
          <a:p>
            <a:pPr marL="0" indent="0" algn="l">
              <a:lnSpc>
                <a:spcPts val="2800"/>
              </a:lnSpc>
              <a:buNone/>
            </a:pPr>
            <a:r>
              <a:rPr lang="en-US" sz="2000" dirty="0">
                <a:solidFill>
                  <a:srgbClr val="15202B"/>
                </a:solidFill>
                <a:latin typeface="Arial" pitchFamily="34" charset="0"/>
                <a:ea typeface="Arial" pitchFamily="34" charset="-122"/>
                <a:cs typeface="Arial" pitchFamily="34" charset="-120"/>
              </a:rPr>
              <a:t>“그 일, 어디까지 했더라?”</a:t>
            </a:r>
            <a:endParaRPr lang="en-US" sz="2000" dirty="0"/>
          </a:p>
        </p:txBody>
      </p:sp>
      <p:sp>
        <p:nvSpPr>
          <p:cNvPr id="5" name="Text 3"/>
          <p:cNvSpPr/>
          <p:nvPr/>
        </p:nvSpPr>
        <p:spPr>
          <a:xfrm>
            <a:off x="819150" y="3609340"/>
            <a:ext cx="4711700" cy="668020"/>
          </a:xfrm>
          <a:prstGeom prst="roundRect">
            <a:avLst>
              <a:gd name="adj" fmla="val 37072"/>
            </a:avLst>
          </a:prstGeom>
          <a:solidFill>
            <a:srgbClr val="FFFFFF"/>
          </a:solidFill>
          <a:ln w="12700">
            <a:solidFill>
              <a:srgbClr val="D9D6CC"/>
            </a:solidFill>
            <a:prstDash val="solid"/>
          </a:ln>
        </p:spPr>
        <p:txBody>
          <a:bodyPr wrap="square" lIns="185276" tIns="83676" rIns="59393" bIns="58276" rtlCol="0" anchor="t">
            <a:normAutofit/>
          </a:bodyPr>
          <a:lstStyle/>
          <a:p>
            <a:pPr marL="0" indent="0" algn="l">
              <a:lnSpc>
                <a:spcPts val="2800"/>
              </a:lnSpc>
              <a:buNone/>
            </a:pPr>
            <a:r>
              <a:rPr lang="en-US" sz="2000" dirty="0">
                <a:solidFill>
                  <a:srgbClr val="15202B"/>
                </a:solidFill>
                <a:latin typeface="Arial" pitchFamily="34" charset="0"/>
                <a:ea typeface="Arial" pitchFamily="34" charset="-122"/>
                <a:cs typeface="Arial" pitchFamily="34" charset="-120"/>
              </a:rPr>
              <a:t>“이번 주에 뭐 했지?”</a:t>
            </a:r>
            <a:endParaRPr lang="en-US" sz="2000" dirty="0"/>
          </a:p>
        </p:txBody>
      </p:sp>
      <p:sp>
        <p:nvSpPr>
          <p:cNvPr id="6" name="Text 4"/>
          <p:cNvSpPr/>
          <p:nvPr/>
        </p:nvSpPr>
        <p:spPr>
          <a:xfrm>
            <a:off x="819150" y="4467860"/>
            <a:ext cx="4711700" cy="668020"/>
          </a:xfrm>
          <a:prstGeom prst="roundRect">
            <a:avLst>
              <a:gd name="adj" fmla="val 37072"/>
            </a:avLst>
          </a:prstGeom>
          <a:solidFill>
            <a:srgbClr val="FFFFFF"/>
          </a:solidFill>
          <a:ln w="12700">
            <a:solidFill>
              <a:srgbClr val="D9D6CC"/>
            </a:solidFill>
            <a:prstDash val="solid"/>
          </a:ln>
        </p:spPr>
        <p:txBody>
          <a:bodyPr wrap="square" lIns="185276" tIns="83676" rIns="59393" bIns="58276" rtlCol="0" anchor="t">
            <a:normAutofit/>
          </a:bodyPr>
          <a:lstStyle/>
          <a:p>
            <a:pPr marL="0" indent="0" algn="l">
              <a:lnSpc>
                <a:spcPts val="2800"/>
              </a:lnSpc>
              <a:buNone/>
            </a:pPr>
            <a:r>
              <a:rPr lang="en-US" sz="2000" dirty="0">
                <a:solidFill>
                  <a:srgbClr val="15202B"/>
                </a:solidFill>
                <a:latin typeface="Arial" pitchFamily="34" charset="0"/>
                <a:ea typeface="Arial" pitchFamily="34" charset="-122"/>
                <a:cs typeface="Arial" pitchFamily="34" charset="-120"/>
              </a:rPr>
              <a:t>“그거 언제 고쳤지?”</a:t>
            </a:r>
            <a:endParaRPr lang="en-US" sz="2000" dirty="0"/>
          </a:p>
        </p:txBody>
      </p:sp>
      <p:sp>
        <p:nvSpPr>
          <p:cNvPr id="7" name="Shape 5"/>
          <p:cNvSpPr/>
          <p:nvPr/>
        </p:nvSpPr>
        <p:spPr>
          <a:xfrm>
            <a:off x="5943600" y="2044700"/>
            <a:ext cx="5435600" cy="3797300"/>
          </a:xfrm>
          <a:prstGeom prst="roundRect">
            <a:avLst>
              <a:gd name="adj" fmla="val 4013"/>
            </a:avLst>
          </a:prstGeom>
          <a:solidFill>
            <a:srgbClr val="15202B"/>
          </a:solidFill>
          <a:ln/>
        </p:spPr>
      </p:sp>
      <p:sp>
        <p:nvSpPr>
          <p:cNvPr id="8" name="Text 6"/>
          <p:cNvSpPr/>
          <p:nvPr/>
        </p:nvSpPr>
        <p:spPr>
          <a:xfrm>
            <a:off x="6299200" y="2790190"/>
            <a:ext cx="486613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0A35E"/>
                </a:solidFill>
                <a:latin typeface="Arial" pitchFamily="34" charset="0"/>
                <a:ea typeface="Arial" pitchFamily="34" charset="-122"/>
                <a:cs typeface="Arial" pitchFamily="34" charset="-120"/>
              </a:rPr>
              <a:t>한 일의 흔적은 흩어져 있다</a:t>
            </a:r>
            <a:endParaRPr lang="en-US" sz="1800" dirty="0"/>
          </a:p>
        </p:txBody>
      </p:sp>
      <p:sp>
        <p:nvSpPr>
          <p:cNvPr id="9" name="Text 7"/>
          <p:cNvSpPr/>
          <p:nvPr/>
        </p:nvSpPr>
        <p:spPr>
          <a:xfrm>
            <a:off x="6299200" y="3216910"/>
            <a:ext cx="4866132" cy="675640"/>
          </a:xfrm>
          <a:prstGeom prst="rect">
            <a:avLst/>
          </a:prstGeom>
          <a:noFill/>
          <a:ln/>
        </p:spPr>
        <p:txBody>
          <a:bodyPr wrap="square" lIns="0" tIns="0" rIns="0" bIns="0" rtlCol="0" anchor="t">
            <a:normAutofit/>
          </a:bodyPr>
          <a:lstStyle/>
          <a:p>
            <a:pPr marL="0" indent="0" algn="l">
              <a:lnSpc>
                <a:spcPts val="2560"/>
              </a:lnSpc>
              <a:buNone/>
            </a:pPr>
            <a:r>
              <a:rPr lang="en-US" sz="1600" dirty="0">
                <a:solidFill>
                  <a:srgbClr val="E4E9EE"/>
                </a:solidFill>
                <a:latin typeface="Arial" pitchFamily="34" charset="0"/>
                <a:ea typeface="Arial" pitchFamily="34" charset="-122"/>
                <a:cs typeface="Arial" pitchFamily="34" charset="-120"/>
              </a:rPr>
              <a:t>고친 코드, 메신저 대화, 열어 본 웹페이지, 문서 파일, 그리고 내 기억.</a:t>
            </a:r>
            <a:endParaRPr lang="en-US" sz="1600" dirty="0"/>
          </a:p>
        </p:txBody>
      </p:sp>
      <p:sp>
        <p:nvSpPr>
          <p:cNvPr id="10" name="Text 8"/>
          <p:cNvSpPr/>
          <p:nvPr/>
        </p:nvSpPr>
        <p:spPr>
          <a:xfrm>
            <a:off x="6299200" y="4019550"/>
            <a:ext cx="486613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0A35E"/>
                </a:solidFill>
                <a:latin typeface="Arial" pitchFamily="34" charset="0"/>
                <a:ea typeface="Arial" pitchFamily="34" charset="-122"/>
                <a:cs typeface="Arial" pitchFamily="34" charset="-120"/>
              </a:rPr>
              <a:t>그래서 기억에 기대서 쓴다</a:t>
            </a:r>
            <a:endParaRPr lang="en-US" sz="1800" dirty="0"/>
          </a:p>
        </p:txBody>
      </p:sp>
      <p:sp>
        <p:nvSpPr>
          <p:cNvPr id="11" name="Text 9"/>
          <p:cNvSpPr/>
          <p:nvPr/>
        </p:nvSpPr>
        <p:spPr>
          <a:xfrm>
            <a:off x="6299200" y="4446270"/>
            <a:ext cx="4866132" cy="675640"/>
          </a:xfrm>
          <a:prstGeom prst="rect">
            <a:avLst/>
          </a:prstGeom>
          <a:noFill/>
          <a:ln/>
        </p:spPr>
        <p:txBody>
          <a:bodyPr wrap="square" lIns="0" tIns="0" rIns="0" bIns="0" rtlCol="0" anchor="t">
            <a:normAutofit/>
          </a:bodyPr>
          <a:lstStyle/>
          <a:p>
            <a:pPr marL="0" indent="0" algn="l">
              <a:lnSpc>
                <a:spcPts val="2560"/>
              </a:lnSpc>
              <a:buNone/>
            </a:pPr>
            <a:r>
              <a:rPr lang="en-US" sz="1600" dirty="0">
                <a:solidFill>
                  <a:srgbClr val="E4E9EE"/>
                </a:solidFill>
                <a:latin typeface="Arial" pitchFamily="34" charset="0"/>
                <a:ea typeface="Arial" pitchFamily="34" charset="-122"/>
                <a:cs typeface="Arial" pitchFamily="34" charset="-120"/>
              </a:rPr>
              <a:t>빠뜨리고, 부풀리고, 매주 같은 시간을 들인다.</a:t>
            </a:r>
            <a:endParaRPr lang="en-US" sz="1600" dirty="0"/>
          </a:p>
          <a:p>
            <a:pPr marL="0" indent="0" algn="l">
              <a:lnSpc>
                <a:spcPts val="2560"/>
              </a:lnSpc>
              <a:buNone/>
            </a:pPr>
            <a:r>
              <a:rPr lang="en-US" sz="1600" dirty="0">
                <a:solidFill>
                  <a:srgbClr val="E4E9EE"/>
                </a:solidFill>
                <a:latin typeface="Arial" pitchFamily="34" charset="0"/>
                <a:ea typeface="Arial" pitchFamily="34" charset="-122"/>
                <a:cs typeface="Arial" pitchFamily="34" charset="-120"/>
              </a:rPr>
              <a:t>ChatGPT에 물어봐도 내가 한 일은 모른다.</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4621C"/>
                </a:solidFill>
                <a:latin typeface="Arial" pitchFamily="34" charset="0"/>
                <a:ea typeface="Arial" pitchFamily="34" charset="-122"/>
                <a:cs typeface="Arial" pitchFamily="34" charset="-120"/>
              </a:rPr>
              <a:t>02 · 해결</a:t>
            </a:r>
            <a:endParaRPr lang="en-US" sz="1400" dirty="0"/>
          </a:p>
        </p:txBody>
      </p:sp>
      <p:sp>
        <p:nvSpPr>
          <p:cNvPr id="3" name="Text 1"/>
          <p:cNvSpPr>
            <a:spLocks noGrp="1"/>
          </p:cNvSpPr>
          <p:nvPr>
            <p:ph type="title"/>
          </p:nvPr>
        </p:nvSpPr>
        <p:spPr>
          <a:xfrm>
            <a:off x="812800" y="1163320"/>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Arial" pitchFamily="34" charset="0"/>
                <a:ea typeface="Arial" pitchFamily="34" charset="-122"/>
                <a:cs typeface="Arial" pitchFamily="34" charset="-120"/>
              </a:rPr>
              <a:t>자동으로 기록하고, 정리하고, 대신 쓴다</a:t>
            </a:r>
            <a:endParaRPr lang="en-US" sz="3600" dirty="0"/>
          </a:p>
        </p:txBody>
      </p:sp>
      <p:sp>
        <p:nvSpPr>
          <p:cNvPr id="4" name="Shape 2"/>
          <p:cNvSpPr/>
          <p:nvPr/>
        </p:nvSpPr>
        <p:spPr>
          <a:xfrm>
            <a:off x="819150" y="2051050"/>
            <a:ext cx="3042047" cy="3784600"/>
          </a:xfrm>
          <a:prstGeom prst="roundRect">
            <a:avLst>
              <a:gd name="adj" fmla="val 4801"/>
            </a:avLst>
          </a:prstGeom>
          <a:solidFill>
            <a:srgbClr val="FFFFFF"/>
          </a:solidFill>
          <a:ln w="12700">
            <a:solidFill>
              <a:srgbClr val="D9D6CC"/>
            </a:solidFill>
            <a:prstDash val="solid"/>
          </a:ln>
        </p:spPr>
      </p:sp>
      <p:sp>
        <p:nvSpPr>
          <p:cNvPr id="5" name="Text 3"/>
          <p:cNvSpPr/>
          <p:nvPr/>
        </p:nvSpPr>
        <p:spPr>
          <a:xfrm>
            <a:off x="1127760" y="2359661"/>
            <a:ext cx="249757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D6CDF"/>
                </a:solidFill>
                <a:latin typeface="Arial" pitchFamily="34" charset="0"/>
                <a:ea typeface="Arial" pitchFamily="34" charset="-122"/>
                <a:cs typeface="Arial" pitchFamily="34" charset="-120"/>
              </a:rPr>
              <a:t>1 · 자동으로 기록</a:t>
            </a:r>
            <a:endParaRPr lang="en-US" sz="1400" dirty="0"/>
          </a:p>
        </p:txBody>
      </p:sp>
      <p:sp>
        <p:nvSpPr>
          <p:cNvPr id="6" name="Text 4"/>
          <p:cNvSpPr/>
          <p:nvPr/>
        </p:nvSpPr>
        <p:spPr>
          <a:xfrm>
            <a:off x="1127760" y="2735580"/>
            <a:ext cx="2497572" cy="3556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15202B"/>
                </a:solidFill>
                <a:latin typeface="Arial" pitchFamily="34" charset="0"/>
                <a:ea typeface="Arial" pitchFamily="34" charset="-122"/>
                <a:cs typeface="Arial" pitchFamily="34" charset="-120"/>
              </a:rPr>
              <a:t>무엇을 고쳤나</a:t>
            </a:r>
            <a:endParaRPr lang="en-US" sz="2000" dirty="0"/>
          </a:p>
        </p:txBody>
      </p:sp>
      <p:sp>
        <p:nvSpPr>
          <p:cNvPr id="7" name="Text 5"/>
          <p:cNvSpPr/>
          <p:nvPr/>
        </p:nvSpPr>
        <p:spPr>
          <a:xfrm>
            <a:off x="1127760" y="3192780"/>
            <a:ext cx="2497572" cy="1163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4A5563"/>
                </a:solidFill>
                <a:latin typeface="Arial" pitchFamily="34" charset="0"/>
                <a:ea typeface="Arial" pitchFamily="34" charset="-122"/>
                <a:cs typeface="Arial" pitchFamily="34" charset="-120"/>
              </a:rPr>
              <a:t>작업 폴더를 5분마다 살펴, 바뀐 파일과 바뀐 내용을 저장합니다. 코드뿐 아니라 한글·워드·엑셀 문서도.</a:t>
            </a:r>
            <a:endParaRPr lang="en-US" sz="1400" dirty="0"/>
          </a:p>
        </p:txBody>
      </p:sp>
      <p:sp>
        <p:nvSpPr>
          <p:cNvPr id="8" name="Text 6"/>
          <p:cNvSpPr/>
          <p:nvPr/>
        </p:nvSpPr>
        <p:spPr>
          <a:xfrm>
            <a:off x="1127760" y="4457700"/>
            <a:ext cx="2497572" cy="5943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4A5563"/>
                </a:solidFill>
                <a:latin typeface="Arial" pitchFamily="34" charset="0"/>
                <a:ea typeface="Arial" pitchFamily="34" charset="-122"/>
                <a:cs typeface="Arial" pitchFamily="34" charset="-120"/>
              </a:rPr>
              <a:t>어떤 프로그램을 언제 썼는지도 함께 기록합니다.</a:t>
            </a:r>
            <a:endParaRPr lang="en-US" sz="1400" dirty="0"/>
          </a:p>
        </p:txBody>
      </p:sp>
      <p:pic>
        <p:nvPicPr>
          <p:cNvPr id="9" name="Image 0" descr="arrow-right"/>
          <p:cNvPicPr>
            <a:picLocks noChangeAspect="1"/>
          </p:cNvPicPr>
          <p:nvPr/>
        </p:nvPicPr>
        <p:blipFill>
          <a:blip r:embed="rId3"/>
          <a:srcRect/>
          <a:stretch/>
        </p:blipFill>
        <p:spPr>
          <a:xfrm>
            <a:off x="4019947" y="3816350"/>
            <a:ext cx="406400" cy="254000"/>
          </a:xfrm>
          <a:prstGeom prst="rect">
            <a:avLst/>
          </a:prstGeom>
        </p:spPr>
      </p:pic>
      <p:sp>
        <p:nvSpPr>
          <p:cNvPr id="10" name="Shape 7"/>
          <p:cNvSpPr/>
          <p:nvPr/>
        </p:nvSpPr>
        <p:spPr>
          <a:xfrm>
            <a:off x="4585097" y="2051050"/>
            <a:ext cx="3042126" cy="3784600"/>
          </a:xfrm>
          <a:prstGeom prst="roundRect">
            <a:avLst>
              <a:gd name="adj" fmla="val 4801"/>
            </a:avLst>
          </a:prstGeom>
          <a:solidFill>
            <a:srgbClr val="FFFFFF"/>
          </a:solidFill>
          <a:ln w="12700">
            <a:solidFill>
              <a:srgbClr val="D9D6CC"/>
            </a:solidFill>
            <a:prstDash val="solid"/>
          </a:ln>
        </p:spPr>
      </p:sp>
      <p:sp>
        <p:nvSpPr>
          <p:cNvPr id="11" name="Text 8"/>
          <p:cNvSpPr/>
          <p:nvPr/>
        </p:nvSpPr>
        <p:spPr>
          <a:xfrm>
            <a:off x="4893707" y="2359661"/>
            <a:ext cx="249765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D6CDF"/>
                </a:solidFill>
                <a:latin typeface="Arial" pitchFamily="34" charset="0"/>
                <a:ea typeface="Arial" pitchFamily="34" charset="-122"/>
                <a:cs typeface="Arial" pitchFamily="34" charset="-120"/>
              </a:rPr>
              <a:t>2 · 보기 좋게 정리</a:t>
            </a:r>
            <a:endParaRPr lang="en-US" sz="1400" dirty="0"/>
          </a:p>
        </p:txBody>
      </p:sp>
      <p:sp>
        <p:nvSpPr>
          <p:cNvPr id="12" name="Text 9"/>
          <p:cNvSpPr/>
          <p:nvPr/>
        </p:nvSpPr>
        <p:spPr>
          <a:xfrm>
            <a:off x="4893707" y="2735580"/>
            <a:ext cx="2497653" cy="3556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15202B"/>
                </a:solidFill>
                <a:latin typeface="Arial" pitchFamily="34" charset="0"/>
                <a:ea typeface="Arial" pitchFamily="34" charset="-122"/>
                <a:cs typeface="Arial" pitchFamily="34" charset="-120"/>
              </a:rPr>
              <a:t>언제, 어느 일이었나</a:t>
            </a:r>
            <a:endParaRPr lang="en-US" sz="2000" dirty="0"/>
          </a:p>
        </p:txBody>
      </p:sp>
      <p:sp>
        <p:nvSpPr>
          <p:cNvPr id="13" name="Text 10"/>
          <p:cNvSpPr/>
          <p:nvPr/>
        </p:nvSpPr>
        <p:spPr>
          <a:xfrm>
            <a:off x="4893707" y="3192780"/>
            <a:ext cx="2497653" cy="87884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4A5563"/>
                </a:solidFill>
                <a:latin typeface="Arial" pitchFamily="34" charset="0"/>
                <a:ea typeface="Arial" pitchFamily="34" charset="-122"/>
                <a:cs typeface="Arial" pitchFamily="34" charset="-120"/>
              </a:rPr>
              <a:t>하루를 작업 단위로 묶어 프로젝트별 시간표로 보여 줍니다. 메모와 할 일은 직접 적습니다.</a:t>
            </a:r>
            <a:endParaRPr lang="en-US" sz="1400" dirty="0"/>
          </a:p>
        </p:txBody>
      </p:sp>
      <p:sp>
        <p:nvSpPr>
          <p:cNvPr id="14" name="Text 11"/>
          <p:cNvSpPr/>
          <p:nvPr/>
        </p:nvSpPr>
        <p:spPr>
          <a:xfrm>
            <a:off x="4893707" y="4173220"/>
            <a:ext cx="2497653" cy="5943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4A5563"/>
                </a:solidFill>
                <a:latin typeface="Arial" pitchFamily="34" charset="0"/>
                <a:ea typeface="Arial" pitchFamily="34" charset="-122"/>
                <a:cs typeface="Arial" pitchFamily="34" charset="-120"/>
              </a:rPr>
              <a:t>여기까지는 AI 없이 동작합니다.</a:t>
            </a:r>
            <a:endParaRPr lang="en-US" sz="1400" dirty="0"/>
          </a:p>
        </p:txBody>
      </p:sp>
      <p:pic>
        <p:nvPicPr>
          <p:cNvPr id="15" name="Image 1" descr="arrow-right"/>
          <p:cNvPicPr>
            <a:picLocks noChangeAspect="1"/>
          </p:cNvPicPr>
          <p:nvPr/>
        </p:nvPicPr>
        <p:blipFill>
          <a:blip r:embed="rId3"/>
          <a:srcRect/>
          <a:stretch/>
        </p:blipFill>
        <p:spPr>
          <a:xfrm>
            <a:off x="7785974" y="3816350"/>
            <a:ext cx="406400" cy="254000"/>
          </a:xfrm>
          <a:prstGeom prst="rect">
            <a:avLst/>
          </a:prstGeom>
        </p:spPr>
      </p:pic>
      <p:sp>
        <p:nvSpPr>
          <p:cNvPr id="16" name="Shape 12"/>
          <p:cNvSpPr/>
          <p:nvPr/>
        </p:nvSpPr>
        <p:spPr>
          <a:xfrm>
            <a:off x="8344774" y="2044700"/>
            <a:ext cx="3034427" cy="3797300"/>
          </a:xfrm>
          <a:prstGeom prst="roundRect">
            <a:avLst>
              <a:gd name="adj" fmla="val 5022"/>
            </a:avLst>
          </a:prstGeom>
          <a:solidFill>
            <a:srgbClr val="15202B"/>
          </a:solidFill>
          <a:ln/>
        </p:spPr>
      </p:sp>
      <p:sp>
        <p:nvSpPr>
          <p:cNvPr id="17" name="Text 13"/>
          <p:cNvSpPr/>
          <p:nvPr/>
        </p:nvSpPr>
        <p:spPr>
          <a:xfrm>
            <a:off x="8649574" y="2349500"/>
            <a:ext cx="249757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35E"/>
                </a:solidFill>
                <a:latin typeface="Arial" pitchFamily="34" charset="0"/>
                <a:ea typeface="Arial" pitchFamily="34" charset="-122"/>
                <a:cs typeface="Arial" pitchFamily="34" charset="-120"/>
              </a:rPr>
              <a:t>3 · AI가 대신 작성</a:t>
            </a:r>
            <a:endParaRPr lang="en-US" sz="1400" dirty="0"/>
          </a:p>
        </p:txBody>
      </p:sp>
      <p:sp>
        <p:nvSpPr>
          <p:cNvPr id="18" name="Text 14"/>
          <p:cNvSpPr/>
          <p:nvPr/>
        </p:nvSpPr>
        <p:spPr>
          <a:xfrm>
            <a:off x="8649574" y="2725420"/>
            <a:ext cx="2497572" cy="3556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F6F5F1"/>
                </a:solidFill>
                <a:latin typeface="Arial" pitchFamily="34" charset="0"/>
                <a:ea typeface="Arial" pitchFamily="34" charset="-122"/>
                <a:cs typeface="Arial" pitchFamily="34" charset="-120"/>
              </a:rPr>
              <a:t>출처까지 함께</a:t>
            </a:r>
            <a:endParaRPr lang="en-US" sz="2000" dirty="0"/>
          </a:p>
        </p:txBody>
      </p:sp>
      <p:sp>
        <p:nvSpPr>
          <p:cNvPr id="19" name="Text 15"/>
          <p:cNvSpPr/>
          <p:nvPr/>
        </p:nvSpPr>
        <p:spPr>
          <a:xfrm>
            <a:off x="8649574" y="3182620"/>
            <a:ext cx="2497572" cy="87884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D3DBE3"/>
                </a:solidFill>
                <a:latin typeface="Arial" pitchFamily="34" charset="0"/>
                <a:ea typeface="Arial" pitchFamily="34" charset="-122"/>
                <a:cs typeface="Arial" pitchFamily="34" charset="-120"/>
              </a:rPr>
              <a:t>주간보고·업무일지 초안을 쓰고, “어디까지 했지?”에 답합니다.</a:t>
            </a:r>
            <a:endParaRPr lang="en-US" sz="1400" dirty="0"/>
          </a:p>
        </p:txBody>
      </p:sp>
      <p:sp>
        <p:nvSpPr>
          <p:cNvPr id="20" name="Text 16"/>
          <p:cNvSpPr/>
          <p:nvPr/>
        </p:nvSpPr>
        <p:spPr>
          <a:xfrm>
            <a:off x="8649574" y="4163061"/>
            <a:ext cx="2497572" cy="87884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D3DBE3"/>
                </a:solidFill>
                <a:latin typeface="Arial" pitchFamily="34" charset="0"/>
                <a:ea typeface="Arial" pitchFamily="34" charset="-122"/>
                <a:cs typeface="Arial" pitchFamily="34" charset="-120"/>
              </a:rPr>
              <a:t>개발자가 쓰는 AI </a:t>
            </a:r>
            <a:r>
              <a:rPr lang="en-US" sz="1400" dirty="0" err="1">
                <a:solidFill>
                  <a:srgbClr val="D3DBE3"/>
                </a:solidFill>
                <a:latin typeface="Arial" pitchFamily="34" charset="0"/>
                <a:ea typeface="Arial" pitchFamily="34" charset="-122"/>
                <a:cs typeface="Arial" pitchFamily="34" charset="-120"/>
              </a:rPr>
              <a:t>코딩</a:t>
            </a:r>
            <a:r>
              <a:rPr lang="en-US" sz="1400" dirty="0">
                <a:solidFill>
                  <a:srgbClr val="D3DBE3"/>
                </a:solidFill>
                <a:latin typeface="Arial" pitchFamily="34" charset="0"/>
                <a:ea typeface="Arial" pitchFamily="34" charset="-122"/>
                <a:cs typeface="Arial" pitchFamily="34" charset="-120"/>
              </a:rPr>
              <a:t> </a:t>
            </a:r>
            <a:r>
              <a:rPr lang="en-US" sz="1400" dirty="0" err="1">
                <a:solidFill>
                  <a:srgbClr val="D3DBE3"/>
                </a:solidFill>
                <a:latin typeface="Arial" pitchFamily="34" charset="0"/>
                <a:ea typeface="Arial" pitchFamily="34" charset="-122"/>
                <a:cs typeface="Arial" pitchFamily="34" charset="-120"/>
              </a:rPr>
              <a:t>도구에서도</a:t>
            </a:r>
            <a:r>
              <a:rPr lang="en-US" sz="1400" dirty="0">
                <a:solidFill>
                  <a:srgbClr val="D3DBE3"/>
                </a:solidFill>
                <a:latin typeface="Arial" pitchFamily="34" charset="0"/>
                <a:ea typeface="Arial" pitchFamily="34" charset="-122"/>
                <a:cs typeface="Arial" pitchFamily="34" charset="-120"/>
              </a:rPr>
              <a:t> 같은 기록으로 물어볼 수 있습니다.</a:t>
            </a:r>
            <a:endParaRPr lang="en-US" sz="1400" dirty="0"/>
          </a:p>
        </p:txBody>
      </p:sp>
      <p:sp>
        <p:nvSpPr>
          <p:cNvPr id="21" name="Text 17"/>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35E"/>
                </a:solidFill>
                <a:latin typeface="Arial" pitchFamily="34" charset="0"/>
                <a:ea typeface="Arial" pitchFamily="34" charset="-122"/>
                <a:cs typeface="Arial" pitchFamily="34" charset="-120"/>
              </a:rPr>
              <a:t>03 · 핵심 차별점</a:t>
            </a:r>
            <a:endParaRPr lang="en-US" sz="1400" dirty="0"/>
          </a:p>
        </p:txBody>
      </p:sp>
      <p:sp>
        <p:nvSpPr>
          <p:cNvPr id="3" name="Text 1"/>
          <p:cNvSpPr>
            <a:spLocks noGrp="1"/>
          </p:cNvSpPr>
          <p:nvPr>
            <p:ph type="title"/>
          </p:nvPr>
        </p:nvSpPr>
        <p:spPr>
          <a:xfrm>
            <a:off x="812800" y="1163320"/>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6F5F1"/>
                </a:solidFill>
                <a:latin typeface="Arial" pitchFamily="34" charset="0"/>
                <a:ea typeface="Arial" pitchFamily="34" charset="-122"/>
                <a:cs typeface="Arial" pitchFamily="34" charset="-120"/>
              </a:rPr>
              <a:t>AI가 쓰고, 프로그램이 검사한다</a:t>
            </a:r>
            <a:endParaRPr lang="en-US" sz="3600" dirty="0"/>
          </a:p>
        </p:txBody>
      </p:sp>
      <p:sp>
        <p:nvSpPr>
          <p:cNvPr id="4" name="Shape 2"/>
          <p:cNvSpPr/>
          <p:nvPr/>
        </p:nvSpPr>
        <p:spPr>
          <a:xfrm>
            <a:off x="812800" y="2044700"/>
            <a:ext cx="5410200" cy="3797300"/>
          </a:xfrm>
          <a:prstGeom prst="roundRect">
            <a:avLst>
              <a:gd name="adj" fmla="val 4013"/>
            </a:avLst>
          </a:prstGeom>
          <a:solidFill>
            <a:srgbClr val="22303D"/>
          </a:solidFill>
          <a:ln/>
        </p:spPr>
      </p:sp>
      <p:sp>
        <p:nvSpPr>
          <p:cNvPr id="5" name="Text 3"/>
          <p:cNvSpPr/>
          <p:nvPr/>
        </p:nvSpPr>
        <p:spPr>
          <a:xfrm>
            <a:off x="1117600" y="2349500"/>
            <a:ext cx="4944618"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A35E"/>
                </a:solidFill>
                <a:latin typeface="Arial" pitchFamily="34" charset="0"/>
                <a:ea typeface="Arial" pitchFamily="34" charset="-122"/>
                <a:cs typeface="Arial" pitchFamily="34" charset="-120"/>
              </a:rPr>
              <a:t>AI가 쓴 보고서의 한 문장</a:t>
            </a:r>
            <a:endParaRPr lang="en-US" sz="1300" dirty="0"/>
          </a:p>
        </p:txBody>
      </p:sp>
      <p:sp>
        <p:nvSpPr>
          <p:cNvPr id="6" name="Text 4"/>
          <p:cNvSpPr/>
          <p:nvPr/>
        </p:nvSpPr>
        <p:spPr>
          <a:xfrm>
            <a:off x="1117600" y="2733041"/>
            <a:ext cx="4944618" cy="370840"/>
          </a:xfrm>
          <a:prstGeom prst="rect">
            <a:avLst/>
          </a:prstGeom>
          <a:noFill/>
          <a:ln/>
        </p:spPr>
        <p:txBody>
          <a:bodyPr wrap="square" lIns="0" tIns="0" rIns="0" bIns="0" rtlCol="0" anchor="t">
            <a:normAutofit/>
          </a:bodyPr>
          <a:lstStyle/>
          <a:p>
            <a:pPr marL="0" indent="0" algn="l">
              <a:lnSpc>
                <a:spcPts val="2720"/>
              </a:lnSpc>
              <a:buNone/>
            </a:pPr>
            <a:r>
              <a:rPr lang="en-US" sz="1700" dirty="0">
                <a:solidFill>
                  <a:srgbClr val="F6F5F1"/>
                </a:solidFill>
                <a:latin typeface="Arial" pitchFamily="34" charset="0"/>
                <a:ea typeface="Arial" pitchFamily="34" charset="-122"/>
                <a:cs typeface="Arial" pitchFamily="34" charset="-120"/>
              </a:rPr>
              <a:t>로그인 토큰 재발급 오류를 수정함</a:t>
            </a:r>
            <a:endParaRPr lang="en-US" sz="1700" dirty="0"/>
          </a:p>
        </p:txBody>
      </p:sp>
      <p:sp>
        <p:nvSpPr>
          <p:cNvPr id="7" name="Text 5"/>
          <p:cNvSpPr/>
          <p:nvPr/>
        </p:nvSpPr>
        <p:spPr>
          <a:xfrm>
            <a:off x="1117600" y="3230880"/>
            <a:ext cx="2347913" cy="332740"/>
          </a:xfrm>
          <a:prstGeom prst="roundRect">
            <a:avLst>
              <a:gd name="adj" fmla="val 45802"/>
            </a:avLst>
          </a:prstGeom>
          <a:solidFill>
            <a:srgbClr val="2D6CDF"/>
          </a:solidFill>
          <a:ln/>
        </p:spPr>
        <p:txBody>
          <a:bodyPr wrap="none" lIns="0" tIns="0" rIns="0" bIns="0" rtlCol="0" anchor="ctr">
            <a:normAutofit/>
          </a:bodyPr>
          <a:lstStyle/>
          <a:p>
            <a:pPr marL="0" indent="0" algn="ctr">
              <a:lnSpc>
                <a:spcPts val="1820"/>
              </a:lnSpc>
              <a:buNone/>
            </a:pPr>
            <a:r>
              <a:rPr lang="en-US" sz="1300" dirty="0">
                <a:solidFill>
                  <a:srgbClr val="F6F5F1"/>
                </a:solidFill>
                <a:latin typeface="Arial" pitchFamily="34" charset="0"/>
                <a:ea typeface="Arial" pitchFamily="34" charset="-122"/>
                <a:cs typeface="Arial" pitchFamily="34" charset="-120"/>
              </a:rPr>
              <a:t>출처: 10-12 11:55 고친 파일</a:t>
            </a:r>
            <a:endParaRPr lang="en-US" sz="1300" dirty="0"/>
          </a:p>
        </p:txBody>
      </p:sp>
      <p:sp>
        <p:nvSpPr>
          <p:cNvPr id="8" name="Text 6"/>
          <p:cNvSpPr/>
          <p:nvPr/>
        </p:nvSpPr>
        <p:spPr>
          <a:xfrm>
            <a:off x="3567113" y="3230880"/>
            <a:ext cx="2347913" cy="332740"/>
          </a:xfrm>
          <a:prstGeom prst="roundRect">
            <a:avLst>
              <a:gd name="adj" fmla="val 45802"/>
            </a:avLst>
          </a:prstGeom>
          <a:solidFill>
            <a:srgbClr val="2D6CDF"/>
          </a:solidFill>
          <a:ln/>
        </p:spPr>
        <p:txBody>
          <a:bodyPr wrap="none" lIns="0" tIns="0" rIns="0" bIns="0" rtlCol="0" anchor="ctr">
            <a:normAutofit/>
          </a:bodyPr>
          <a:lstStyle/>
          <a:p>
            <a:pPr marL="0" indent="0" algn="ctr">
              <a:lnSpc>
                <a:spcPts val="1820"/>
              </a:lnSpc>
              <a:buNone/>
            </a:pPr>
            <a:r>
              <a:rPr lang="en-US" sz="1300" dirty="0">
                <a:solidFill>
                  <a:srgbClr val="F6F5F1"/>
                </a:solidFill>
                <a:latin typeface="Arial" pitchFamily="34" charset="0"/>
                <a:ea typeface="Arial" pitchFamily="34" charset="-122"/>
                <a:cs typeface="Arial" pitchFamily="34" charset="-120"/>
              </a:rPr>
              <a:t>출처: 10-13 11:45 고친 파일</a:t>
            </a:r>
            <a:endParaRPr lang="en-US" sz="1300" dirty="0"/>
          </a:p>
        </p:txBody>
      </p:sp>
      <p:sp>
        <p:nvSpPr>
          <p:cNvPr id="9" name="Text 7"/>
          <p:cNvSpPr/>
          <p:nvPr/>
        </p:nvSpPr>
        <p:spPr>
          <a:xfrm>
            <a:off x="1117600" y="3716020"/>
            <a:ext cx="4944618" cy="5943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B8C4D0"/>
                </a:solidFill>
                <a:latin typeface="Arial" pitchFamily="34" charset="0"/>
                <a:ea typeface="Arial" pitchFamily="34" charset="-122"/>
                <a:cs typeface="Arial" pitchFamily="34" charset="-120"/>
              </a:rPr>
              <a:t>출처를 누르면 실제 기록으로 이동합니다. 창을 띄워 놓았다는 기록만으로는 “했다”고 쓰지 않습니다.</a:t>
            </a:r>
            <a:endParaRPr lang="en-US" sz="1400" dirty="0"/>
          </a:p>
        </p:txBody>
      </p:sp>
      <p:sp>
        <p:nvSpPr>
          <p:cNvPr id="10" name="Text 8"/>
          <p:cNvSpPr/>
          <p:nvPr/>
        </p:nvSpPr>
        <p:spPr>
          <a:xfrm>
            <a:off x="6578600" y="2853691"/>
            <a:ext cx="494461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7FA8F0"/>
                </a:solidFill>
                <a:latin typeface="Arial" pitchFamily="34" charset="0"/>
                <a:ea typeface="Arial" pitchFamily="34" charset="-122"/>
                <a:cs typeface="Arial" pitchFamily="34" charset="-120"/>
              </a:rPr>
              <a:t>프로그램이 지키는 규칙</a:t>
            </a:r>
            <a:endParaRPr lang="en-US" sz="1800" dirty="0"/>
          </a:p>
        </p:txBody>
      </p:sp>
      <p:sp>
        <p:nvSpPr>
          <p:cNvPr id="11" name="Text 9"/>
          <p:cNvSpPr/>
          <p:nvPr/>
        </p:nvSpPr>
        <p:spPr>
          <a:xfrm>
            <a:off x="6655308" y="3305811"/>
            <a:ext cx="4860290" cy="1752600"/>
          </a:xfrm>
          <a:prstGeom prst="rect">
            <a:avLst/>
          </a:prstGeom>
          <a:noFill/>
          <a:ln/>
        </p:spPr>
        <p:txBody>
          <a:bodyPr wrap="square" lIns="0" tIns="0" rIns="0" bIns="0" rtlCol="0" anchor="t">
            <a:normAutofit/>
          </a:bodyPr>
          <a:lstStyle/>
          <a:p>
            <a:pPr marL="177292" indent="-177292" algn="l">
              <a:lnSpc>
                <a:spcPts val="2720"/>
              </a:lnSpc>
              <a:buSzPct val="100000"/>
              <a:buChar char="•"/>
            </a:pPr>
            <a:r>
              <a:rPr lang="en-US" sz="1600" dirty="0">
                <a:solidFill>
                  <a:srgbClr val="E4E9EE"/>
                </a:solidFill>
                <a:latin typeface="Arial" pitchFamily="34" charset="0"/>
                <a:ea typeface="Arial" pitchFamily="34" charset="-122"/>
                <a:cs typeface="Arial" pitchFamily="34" charset="-120"/>
              </a:rPr>
              <a:t>AI가 확인하지 않은 출처를 대면 지운다</a:t>
            </a:r>
            <a:endParaRPr lang="en-US" sz="1600" dirty="0"/>
          </a:p>
          <a:p>
            <a:pPr marL="177292" indent="-177292" algn="l">
              <a:lnSpc>
                <a:spcPts val="2720"/>
              </a:lnSpc>
              <a:buSzPct val="100000"/>
              <a:buChar char="•"/>
            </a:pPr>
            <a:r>
              <a:rPr lang="en-US" sz="1600" dirty="0">
                <a:solidFill>
                  <a:srgbClr val="E4E9EE"/>
                </a:solidFill>
                <a:latin typeface="Arial" pitchFamily="34" charset="0"/>
                <a:ea typeface="Arial" pitchFamily="34" charset="-122"/>
                <a:cs typeface="Arial" pitchFamily="34" charset="-120"/>
              </a:rPr>
              <a:t>“완료했다”는 내 메모에 있을 때만</a:t>
            </a:r>
            <a:endParaRPr lang="en-US" sz="1600" dirty="0"/>
          </a:p>
          <a:p>
            <a:pPr marL="177292" indent="-177292" algn="l">
              <a:lnSpc>
                <a:spcPts val="2720"/>
              </a:lnSpc>
              <a:buSzPct val="100000"/>
              <a:buChar char="•"/>
            </a:pPr>
            <a:r>
              <a:rPr lang="en-US" sz="1600" dirty="0">
                <a:solidFill>
                  <a:srgbClr val="E4E9EE"/>
                </a:solidFill>
                <a:latin typeface="Arial" pitchFamily="34" charset="0"/>
                <a:ea typeface="Arial" pitchFamily="34" charset="-122"/>
                <a:cs typeface="Arial" pitchFamily="34" charset="-120"/>
              </a:rPr>
              <a:t>“다음에 할 일”은 내가 적은 것만</a:t>
            </a:r>
            <a:endParaRPr lang="en-US" sz="1600" dirty="0"/>
          </a:p>
          <a:p>
            <a:pPr marL="177292" indent="-177292" algn="l">
              <a:lnSpc>
                <a:spcPts val="2720"/>
              </a:lnSpc>
              <a:buSzPct val="100000"/>
              <a:buChar char="•"/>
            </a:pPr>
            <a:r>
              <a:rPr lang="en-US" sz="1600" dirty="0">
                <a:solidFill>
                  <a:srgbClr val="E4E9EE"/>
                </a:solidFill>
                <a:latin typeface="Arial" pitchFamily="34" charset="0"/>
                <a:ea typeface="Arial" pitchFamily="34" charset="-122"/>
                <a:cs typeface="Arial" pitchFamily="34" charset="-120"/>
              </a:rPr>
              <a:t>기록에 없으면 “찾지 못했습니다”</a:t>
            </a:r>
            <a:endParaRPr lang="en-US" sz="1600" dirty="0"/>
          </a:p>
          <a:p>
            <a:pPr marL="177292" indent="-177292" algn="l">
              <a:lnSpc>
                <a:spcPts val="2720"/>
              </a:lnSpc>
              <a:buSzPct val="100000"/>
              <a:buChar char="•"/>
            </a:pPr>
            <a:r>
              <a:rPr lang="en-US" sz="1600" dirty="0">
                <a:solidFill>
                  <a:srgbClr val="E4E9EE"/>
                </a:solidFill>
                <a:latin typeface="Arial" pitchFamily="34" charset="0"/>
                <a:ea typeface="Arial" pitchFamily="34" charset="-122"/>
                <a:cs typeface="Arial" pitchFamily="34" charset="-120"/>
              </a:rPr>
              <a:t>비밀번호 같은 값은 AI에 보내기 전에 가린다</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4621C"/>
                </a:solidFill>
                <a:latin typeface="Arial" pitchFamily="34" charset="0"/>
                <a:ea typeface="Arial" pitchFamily="34" charset="-122"/>
                <a:cs typeface="Arial" pitchFamily="34" charset="-120"/>
              </a:rPr>
              <a:t>03 · 도구와 AI</a:t>
            </a:r>
            <a:endParaRPr lang="en-US" sz="1400" dirty="0"/>
          </a:p>
        </p:txBody>
      </p:sp>
      <p:sp>
        <p:nvSpPr>
          <p:cNvPr id="3" name="Text 1"/>
          <p:cNvSpPr>
            <a:spLocks noGrp="1"/>
          </p:cNvSpPr>
          <p:nvPr>
            <p:ph type="title"/>
          </p:nvPr>
        </p:nvSpPr>
        <p:spPr>
          <a:xfrm>
            <a:off x="812800" y="116332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02B"/>
                </a:solidFill>
                <a:latin typeface="Arial" pitchFamily="34" charset="0"/>
                <a:ea typeface="Arial" pitchFamily="34" charset="-122"/>
                <a:cs typeface="Arial" pitchFamily="34" charset="-120"/>
              </a:rPr>
              <a:t>어떤 도구로 만들고, AI는 어디에 썼나</a:t>
            </a:r>
            <a:endParaRPr lang="en-US" sz="3200" dirty="0"/>
          </a:p>
        </p:txBody>
      </p:sp>
      <p:sp>
        <p:nvSpPr>
          <p:cNvPr id="4" name="Text 2"/>
          <p:cNvSpPr/>
          <p:nvPr/>
        </p:nvSpPr>
        <p:spPr>
          <a:xfrm>
            <a:off x="812800" y="1859282"/>
            <a:ext cx="556375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5202B"/>
                </a:solidFill>
                <a:latin typeface="Arial" pitchFamily="34" charset="0"/>
                <a:ea typeface="Arial" pitchFamily="34" charset="-122"/>
                <a:cs typeface="Arial" pitchFamily="34" charset="-120"/>
              </a:rPr>
              <a:t>앱 안에서 누가 하나</a:t>
            </a:r>
            <a:endParaRPr lang="en-US" sz="1500" dirty="0"/>
          </a:p>
        </p:txBody>
      </p:sp>
      <p:sp>
        <p:nvSpPr>
          <p:cNvPr id="5" name="Shape 3"/>
          <p:cNvSpPr/>
          <p:nvPr/>
        </p:nvSpPr>
        <p:spPr>
          <a:xfrm>
            <a:off x="819150" y="2170432"/>
            <a:ext cx="5389007" cy="449580"/>
          </a:xfrm>
          <a:prstGeom prst="roundRect">
            <a:avLst>
              <a:gd name="adj" fmla="val 21186"/>
            </a:avLst>
          </a:prstGeom>
          <a:solidFill>
            <a:srgbClr val="FFFFFF"/>
          </a:solidFill>
          <a:ln w="12700">
            <a:solidFill>
              <a:srgbClr val="D9D6CC"/>
            </a:solidFill>
            <a:prstDash val="solid"/>
          </a:ln>
        </p:spPr>
      </p:sp>
      <p:sp>
        <p:nvSpPr>
          <p:cNvPr id="6" name="Text 4"/>
          <p:cNvSpPr/>
          <p:nvPr/>
        </p:nvSpPr>
        <p:spPr>
          <a:xfrm>
            <a:off x="975360" y="2263139"/>
            <a:ext cx="533400" cy="264160"/>
          </a:xfrm>
          <a:custGeom>
            <a:avLst/>
            <a:gdLst/>
            <a:ahLst/>
            <a:cxnLst/>
            <a:rect l="l" t="t" r="r" b="b"/>
            <a:pathLst>
              <a:path w="533400" h="264160">
                <a:moveTo>
                  <a:pt x="127000" y="0"/>
                </a:moveTo>
                <a:lnTo>
                  <a:pt x="406400" y="0"/>
                </a:lnTo>
                <a:arcTo wR="127000" hR="127000" stAng="16200000" swAng="5400000"/>
                <a:lnTo>
                  <a:pt x="533400" y="137160"/>
                </a:lnTo>
                <a:arcTo wR="127000" hR="127000" stAng="0" swAng="5400000"/>
                <a:lnTo>
                  <a:pt x="127000" y="264160"/>
                </a:lnTo>
                <a:arcTo wR="127000" hR="127000" stAng="5400000" swAng="5400000"/>
                <a:lnTo>
                  <a:pt x="0" y="127000"/>
                </a:lnTo>
                <a:arcTo wR="127000" hR="127000" stAng="10800000" swAng="5400000"/>
                <a:close/>
              </a:path>
            </a:pathLst>
          </a:custGeom>
          <a:solidFill>
            <a:srgbClr val="E4E7EB"/>
          </a:solidFill>
          <a:ln/>
        </p:spPr>
        <p:txBody>
          <a:bodyPr wrap="none" lIns="0" tIns="0" rIns="0" bIns="0" rtlCol="0" anchor="ctr">
            <a:normAutofit/>
          </a:bodyPr>
          <a:lstStyle/>
          <a:p>
            <a:pPr marL="0" indent="0" algn="ctr">
              <a:lnSpc>
                <a:spcPts val="1680"/>
              </a:lnSpc>
              <a:buNone/>
            </a:pPr>
            <a:r>
              <a:rPr lang="en-US" sz="1200" b="1" dirty="0">
                <a:solidFill>
                  <a:srgbClr val="4A5563"/>
                </a:solidFill>
                <a:latin typeface="Arial" pitchFamily="34" charset="0"/>
                <a:ea typeface="Arial" pitchFamily="34" charset="-122"/>
                <a:cs typeface="Arial" pitchFamily="34" charset="-120"/>
              </a:rPr>
              <a:t>규칙</a:t>
            </a:r>
            <a:endParaRPr lang="en-US" sz="1200" dirty="0"/>
          </a:p>
        </p:txBody>
      </p:sp>
      <p:sp>
        <p:nvSpPr>
          <p:cNvPr id="7" name="Text 5"/>
          <p:cNvSpPr/>
          <p:nvPr/>
        </p:nvSpPr>
        <p:spPr>
          <a:xfrm>
            <a:off x="1635760" y="2279650"/>
            <a:ext cx="280673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5202B"/>
                </a:solidFill>
                <a:latin typeface="Arial" pitchFamily="34" charset="0"/>
                <a:ea typeface="Arial" pitchFamily="34" charset="-122"/>
                <a:cs typeface="Arial" pitchFamily="34" charset="-120"/>
              </a:rPr>
              <a:t>고친 파일·사용한 프로그램 기록</a:t>
            </a:r>
            <a:endParaRPr lang="en-US" sz="1300" dirty="0"/>
          </a:p>
        </p:txBody>
      </p:sp>
      <p:sp>
        <p:nvSpPr>
          <p:cNvPr id="8" name="Shape 6"/>
          <p:cNvSpPr/>
          <p:nvPr/>
        </p:nvSpPr>
        <p:spPr>
          <a:xfrm>
            <a:off x="819150" y="2708911"/>
            <a:ext cx="5389007" cy="449580"/>
          </a:xfrm>
          <a:prstGeom prst="roundRect">
            <a:avLst>
              <a:gd name="adj" fmla="val 21186"/>
            </a:avLst>
          </a:prstGeom>
          <a:solidFill>
            <a:srgbClr val="FFFFFF"/>
          </a:solidFill>
          <a:ln w="12700">
            <a:solidFill>
              <a:srgbClr val="D9D6CC"/>
            </a:solidFill>
            <a:prstDash val="solid"/>
          </a:ln>
        </p:spPr>
      </p:sp>
      <p:sp>
        <p:nvSpPr>
          <p:cNvPr id="9" name="Text 7"/>
          <p:cNvSpPr/>
          <p:nvPr/>
        </p:nvSpPr>
        <p:spPr>
          <a:xfrm>
            <a:off x="975360" y="2801621"/>
            <a:ext cx="533400" cy="264160"/>
          </a:xfrm>
          <a:custGeom>
            <a:avLst/>
            <a:gdLst/>
            <a:ahLst/>
            <a:cxnLst/>
            <a:rect l="l" t="t" r="r" b="b"/>
            <a:pathLst>
              <a:path w="533400" h="264160">
                <a:moveTo>
                  <a:pt x="127000" y="0"/>
                </a:moveTo>
                <a:lnTo>
                  <a:pt x="406400" y="0"/>
                </a:lnTo>
                <a:arcTo wR="127000" hR="127000" stAng="16200000" swAng="5400000"/>
                <a:lnTo>
                  <a:pt x="533400" y="137160"/>
                </a:lnTo>
                <a:arcTo wR="127000" hR="127000" stAng="0" swAng="5400000"/>
                <a:lnTo>
                  <a:pt x="127000" y="264160"/>
                </a:lnTo>
                <a:arcTo wR="127000" hR="127000" stAng="5400000" swAng="5400000"/>
                <a:lnTo>
                  <a:pt x="0" y="127000"/>
                </a:lnTo>
                <a:arcTo wR="127000" hR="127000" stAng="10800000" swAng="5400000"/>
                <a:close/>
              </a:path>
            </a:pathLst>
          </a:custGeom>
          <a:solidFill>
            <a:srgbClr val="E4E7EB"/>
          </a:solidFill>
          <a:ln/>
        </p:spPr>
        <p:txBody>
          <a:bodyPr wrap="none" lIns="0" tIns="0" rIns="0" bIns="0" rtlCol="0" anchor="ctr">
            <a:normAutofit/>
          </a:bodyPr>
          <a:lstStyle/>
          <a:p>
            <a:pPr marL="0" indent="0" algn="ctr">
              <a:lnSpc>
                <a:spcPts val="1680"/>
              </a:lnSpc>
              <a:buNone/>
            </a:pPr>
            <a:r>
              <a:rPr lang="en-US" sz="1200" b="1" dirty="0">
                <a:solidFill>
                  <a:srgbClr val="4A5563"/>
                </a:solidFill>
                <a:latin typeface="Arial" pitchFamily="34" charset="0"/>
                <a:ea typeface="Arial" pitchFamily="34" charset="-122"/>
                <a:cs typeface="Arial" pitchFamily="34" charset="-120"/>
              </a:rPr>
              <a:t>규칙</a:t>
            </a:r>
            <a:endParaRPr lang="en-US" sz="1200" dirty="0"/>
          </a:p>
        </p:txBody>
      </p:sp>
      <p:sp>
        <p:nvSpPr>
          <p:cNvPr id="10" name="Text 8"/>
          <p:cNvSpPr/>
          <p:nvPr/>
        </p:nvSpPr>
        <p:spPr>
          <a:xfrm>
            <a:off x="1635760" y="2818132"/>
            <a:ext cx="299389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5202B"/>
                </a:solidFill>
                <a:latin typeface="Arial" pitchFamily="34" charset="0"/>
                <a:ea typeface="Arial" pitchFamily="34" charset="-122"/>
                <a:cs typeface="Arial" pitchFamily="34" charset="-120"/>
              </a:rPr>
              <a:t>작업 단위로 묶고 프로젝트 나누기</a:t>
            </a:r>
            <a:endParaRPr lang="en-US" sz="1300" dirty="0"/>
          </a:p>
        </p:txBody>
      </p:sp>
      <p:sp>
        <p:nvSpPr>
          <p:cNvPr id="11" name="Shape 9"/>
          <p:cNvSpPr/>
          <p:nvPr/>
        </p:nvSpPr>
        <p:spPr>
          <a:xfrm>
            <a:off x="819150" y="3247389"/>
            <a:ext cx="5389007" cy="449580"/>
          </a:xfrm>
          <a:prstGeom prst="roundRect">
            <a:avLst>
              <a:gd name="adj" fmla="val 21186"/>
            </a:avLst>
          </a:prstGeom>
          <a:solidFill>
            <a:srgbClr val="FBEBDD"/>
          </a:solidFill>
          <a:ln w="12700">
            <a:solidFill>
              <a:srgbClr val="C4621C"/>
            </a:solidFill>
            <a:prstDash val="solid"/>
          </a:ln>
        </p:spPr>
      </p:sp>
      <p:sp>
        <p:nvSpPr>
          <p:cNvPr id="12" name="Text 10"/>
          <p:cNvSpPr/>
          <p:nvPr/>
        </p:nvSpPr>
        <p:spPr>
          <a:xfrm>
            <a:off x="975360" y="3340100"/>
            <a:ext cx="381000" cy="264160"/>
          </a:xfrm>
          <a:custGeom>
            <a:avLst/>
            <a:gdLst/>
            <a:ahLst/>
            <a:cxnLst/>
            <a:rect l="l" t="t" r="r" b="b"/>
            <a:pathLst>
              <a:path w="381000" h="264160">
                <a:moveTo>
                  <a:pt x="127000" y="0"/>
                </a:moveTo>
                <a:lnTo>
                  <a:pt x="254000" y="0"/>
                </a:lnTo>
                <a:arcTo wR="127000" hR="127000" stAng="16200000" swAng="5400000"/>
                <a:lnTo>
                  <a:pt x="381000" y="137160"/>
                </a:lnTo>
                <a:arcTo wR="127000" hR="127000" stAng="0" swAng="5400000"/>
                <a:lnTo>
                  <a:pt x="127000" y="264160"/>
                </a:lnTo>
                <a:arcTo wR="127000" hR="127000" stAng="5400000" swAng="5400000"/>
                <a:lnTo>
                  <a:pt x="0" y="127000"/>
                </a:lnTo>
                <a:arcTo wR="127000" hR="127000" stAng="10800000" swAng="5400000"/>
                <a:close/>
              </a:path>
            </a:pathLst>
          </a:custGeom>
          <a:solidFill>
            <a:srgbClr val="C4621C"/>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Arial" pitchFamily="34" charset="0"/>
                <a:ea typeface="Arial" pitchFamily="34" charset="-122"/>
                <a:cs typeface="Arial" pitchFamily="34" charset="-120"/>
              </a:rPr>
              <a:t>AI</a:t>
            </a:r>
            <a:endParaRPr lang="en-US" sz="1200" dirty="0"/>
          </a:p>
        </p:txBody>
      </p:sp>
      <p:sp>
        <p:nvSpPr>
          <p:cNvPr id="13" name="Text 11"/>
          <p:cNvSpPr/>
          <p:nvPr/>
        </p:nvSpPr>
        <p:spPr>
          <a:xfrm>
            <a:off x="1483360" y="3356611"/>
            <a:ext cx="255355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5202B"/>
                </a:solidFill>
                <a:latin typeface="Arial" pitchFamily="34" charset="0"/>
                <a:ea typeface="Arial" pitchFamily="34" charset="-122"/>
                <a:cs typeface="Arial" pitchFamily="34" charset="-120"/>
              </a:rPr>
              <a:t>주간보고·업무일지 초안 쓰기</a:t>
            </a:r>
            <a:endParaRPr lang="en-US" sz="1300" dirty="0"/>
          </a:p>
        </p:txBody>
      </p:sp>
      <p:sp>
        <p:nvSpPr>
          <p:cNvPr id="14" name="Shape 12"/>
          <p:cNvSpPr/>
          <p:nvPr/>
        </p:nvSpPr>
        <p:spPr>
          <a:xfrm>
            <a:off x="819150" y="3785871"/>
            <a:ext cx="5389007" cy="449580"/>
          </a:xfrm>
          <a:prstGeom prst="roundRect">
            <a:avLst>
              <a:gd name="adj" fmla="val 21186"/>
            </a:avLst>
          </a:prstGeom>
          <a:solidFill>
            <a:srgbClr val="FBEBDD"/>
          </a:solidFill>
          <a:ln w="12700">
            <a:solidFill>
              <a:srgbClr val="C4621C"/>
            </a:solidFill>
            <a:prstDash val="solid"/>
          </a:ln>
        </p:spPr>
      </p:sp>
      <p:sp>
        <p:nvSpPr>
          <p:cNvPr id="15" name="Text 13"/>
          <p:cNvSpPr/>
          <p:nvPr/>
        </p:nvSpPr>
        <p:spPr>
          <a:xfrm>
            <a:off x="975360" y="3878582"/>
            <a:ext cx="381000" cy="264160"/>
          </a:xfrm>
          <a:custGeom>
            <a:avLst/>
            <a:gdLst/>
            <a:ahLst/>
            <a:cxnLst/>
            <a:rect l="l" t="t" r="r" b="b"/>
            <a:pathLst>
              <a:path w="381000" h="264160">
                <a:moveTo>
                  <a:pt x="127000" y="0"/>
                </a:moveTo>
                <a:lnTo>
                  <a:pt x="254000" y="0"/>
                </a:lnTo>
                <a:arcTo wR="127000" hR="127000" stAng="16200000" swAng="5400000"/>
                <a:lnTo>
                  <a:pt x="381000" y="137160"/>
                </a:lnTo>
                <a:arcTo wR="127000" hR="127000" stAng="0" swAng="5400000"/>
                <a:lnTo>
                  <a:pt x="127000" y="264160"/>
                </a:lnTo>
                <a:arcTo wR="127000" hR="127000" stAng="5400000" swAng="5400000"/>
                <a:lnTo>
                  <a:pt x="0" y="127000"/>
                </a:lnTo>
                <a:arcTo wR="127000" hR="127000" stAng="10800000" swAng="5400000"/>
                <a:close/>
              </a:path>
            </a:pathLst>
          </a:custGeom>
          <a:solidFill>
            <a:srgbClr val="C4621C"/>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Arial" pitchFamily="34" charset="0"/>
                <a:ea typeface="Arial" pitchFamily="34" charset="-122"/>
                <a:cs typeface="Arial" pitchFamily="34" charset="-120"/>
              </a:rPr>
              <a:t>AI</a:t>
            </a:r>
            <a:endParaRPr lang="en-US" sz="1200" dirty="0"/>
          </a:p>
        </p:txBody>
      </p:sp>
      <p:sp>
        <p:nvSpPr>
          <p:cNvPr id="16" name="Text 14"/>
          <p:cNvSpPr/>
          <p:nvPr/>
        </p:nvSpPr>
        <p:spPr>
          <a:xfrm>
            <a:off x="1483360" y="3895089"/>
            <a:ext cx="368731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5202B"/>
                </a:solidFill>
                <a:latin typeface="Arial" pitchFamily="34" charset="0"/>
                <a:ea typeface="Arial" pitchFamily="34" charset="-122"/>
                <a:cs typeface="Arial" pitchFamily="34" charset="-120"/>
              </a:rPr>
              <a:t>“어디까지 했지?” 기록을 직접 찾아 답하기</a:t>
            </a:r>
            <a:endParaRPr lang="en-US" sz="1300" dirty="0"/>
          </a:p>
        </p:txBody>
      </p:sp>
      <p:sp>
        <p:nvSpPr>
          <p:cNvPr id="17" name="Shape 15"/>
          <p:cNvSpPr/>
          <p:nvPr/>
        </p:nvSpPr>
        <p:spPr>
          <a:xfrm>
            <a:off x="819150" y="4324350"/>
            <a:ext cx="5389007" cy="449580"/>
          </a:xfrm>
          <a:prstGeom prst="roundRect">
            <a:avLst>
              <a:gd name="adj" fmla="val 21186"/>
            </a:avLst>
          </a:prstGeom>
          <a:solidFill>
            <a:srgbClr val="FFFFFF"/>
          </a:solidFill>
          <a:ln w="12700">
            <a:solidFill>
              <a:srgbClr val="D9D6CC"/>
            </a:solidFill>
            <a:prstDash val="solid"/>
          </a:ln>
        </p:spPr>
      </p:sp>
      <p:sp>
        <p:nvSpPr>
          <p:cNvPr id="18" name="Text 16"/>
          <p:cNvSpPr/>
          <p:nvPr/>
        </p:nvSpPr>
        <p:spPr>
          <a:xfrm>
            <a:off x="975360" y="4417061"/>
            <a:ext cx="533400" cy="264160"/>
          </a:xfrm>
          <a:custGeom>
            <a:avLst/>
            <a:gdLst/>
            <a:ahLst/>
            <a:cxnLst/>
            <a:rect l="l" t="t" r="r" b="b"/>
            <a:pathLst>
              <a:path w="533400" h="264160">
                <a:moveTo>
                  <a:pt x="127000" y="0"/>
                </a:moveTo>
                <a:lnTo>
                  <a:pt x="406400" y="0"/>
                </a:lnTo>
                <a:arcTo wR="127000" hR="127000" stAng="16200000" swAng="5400000"/>
                <a:lnTo>
                  <a:pt x="533400" y="137160"/>
                </a:lnTo>
                <a:arcTo wR="127000" hR="127000" stAng="0" swAng="5400000"/>
                <a:lnTo>
                  <a:pt x="127000" y="264160"/>
                </a:lnTo>
                <a:arcTo wR="127000" hR="127000" stAng="5400000" swAng="5400000"/>
                <a:lnTo>
                  <a:pt x="0" y="127000"/>
                </a:lnTo>
                <a:arcTo wR="127000" hR="127000" stAng="10800000" swAng="5400000"/>
                <a:close/>
              </a:path>
            </a:pathLst>
          </a:custGeom>
          <a:solidFill>
            <a:srgbClr val="E4E7EB"/>
          </a:solidFill>
          <a:ln/>
        </p:spPr>
        <p:txBody>
          <a:bodyPr wrap="none" lIns="0" tIns="0" rIns="0" bIns="0" rtlCol="0" anchor="ctr">
            <a:normAutofit/>
          </a:bodyPr>
          <a:lstStyle/>
          <a:p>
            <a:pPr marL="0" indent="0" algn="ctr">
              <a:lnSpc>
                <a:spcPts val="1680"/>
              </a:lnSpc>
              <a:buNone/>
            </a:pPr>
            <a:r>
              <a:rPr lang="en-US" sz="1200" b="1" dirty="0">
                <a:solidFill>
                  <a:srgbClr val="4A5563"/>
                </a:solidFill>
                <a:latin typeface="Arial" pitchFamily="34" charset="0"/>
                <a:ea typeface="Arial" pitchFamily="34" charset="-122"/>
                <a:cs typeface="Arial" pitchFamily="34" charset="-120"/>
              </a:rPr>
              <a:t>규칙</a:t>
            </a:r>
            <a:endParaRPr lang="en-US" sz="1200" dirty="0"/>
          </a:p>
        </p:txBody>
      </p:sp>
      <p:sp>
        <p:nvSpPr>
          <p:cNvPr id="19" name="Text 17"/>
          <p:cNvSpPr/>
          <p:nvPr/>
        </p:nvSpPr>
        <p:spPr>
          <a:xfrm>
            <a:off x="1635760" y="4433571"/>
            <a:ext cx="215731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5202B"/>
                </a:solidFill>
                <a:latin typeface="Arial" pitchFamily="34" charset="0"/>
                <a:ea typeface="Arial" pitchFamily="34" charset="-122"/>
                <a:cs typeface="Arial" pitchFamily="34" charset="-120"/>
              </a:rPr>
              <a:t>출처 검사·비밀값 가리기</a:t>
            </a:r>
            <a:endParaRPr lang="en-US" sz="1300" dirty="0"/>
          </a:p>
        </p:txBody>
      </p:sp>
      <p:sp>
        <p:nvSpPr>
          <p:cNvPr id="20" name="Text 18"/>
          <p:cNvSpPr/>
          <p:nvPr/>
        </p:nvSpPr>
        <p:spPr>
          <a:xfrm>
            <a:off x="6468507" y="1859282"/>
            <a:ext cx="505801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5202B"/>
                </a:solidFill>
                <a:latin typeface="Arial" pitchFamily="34" charset="0"/>
                <a:ea typeface="Arial" pitchFamily="34" charset="-122"/>
                <a:cs typeface="Arial" pitchFamily="34" charset="-120"/>
              </a:rPr>
              <a:t>사용한 도구</a:t>
            </a:r>
            <a:endParaRPr lang="en-US" sz="1500" dirty="0"/>
          </a:p>
        </p:txBody>
      </p:sp>
      <p:graphicFrame>
        <p:nvGraphicFramePr>
          <p:cNvPr id="21" name="Table 0"/>
          <p:cNvGraphicFramePr>
            <a:graphicFrameLocks noGrp="1"/>
          </p:cNvGraphicFramePr>
          <p:nvPr/>
        </p:nvGraphicFramePr>
        <p:xfrm>
          <a:off x="6478667" y="2174242"/>
          <a:ext cx="4900533" cy="2311400"/>
        </p:xfrm>
        <a:graphic>
          <a:graphicData uri="http://schemas.openxmlformats.org/drawingml/2006/table">
            <a:tbl>
              <a:tblPr/>
              <a:tblGrid>
                <a:gridCol w="2058224">
                  <a:extLst>
                    <a:ext uri="{9D8B030D-6E8A-4147-A177-3AD203B41FA5}">
                      <a16:colId xmlns:a16="http://schemas.microsoft.com/office/drawing/2014/main" val="20000"/>
                    </a:ext>
                  </a:extLst>
                </a:gridCol>
                <a:gridCol w="2842309">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15202B"/>
                          </a:solidFill>
                          <a:latin typeface="Arial" pitchFamily="34" charset="0"/>
                          <a:ea typeface="Arial" pitchFamily="34" charset="-122"/>
                          <a:cs typeface="Arial" pitchFamily="34" charset="-120"/>
                        </a:rPr>
                        <a:t>도구</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marL="0" indent="0">
                        <a:lnSpc>
                          <a:spcPts val="1680"/>
                        </a:lnSpc>
                        <a:buNone/>
                      </a:pPr>
                      <a:r>
                        <a:rPr lang="en-US" sz="1200" b="1" dirty="0">
                          <a:solidFill>
                            <a:srgbClr val="15202B"/>
                          </a:solidFill>
                          <a:latin typeface="Arial" pitchFamily="34" charset="0"/>
                          <a:ea typeface="Arial" pitchFamily="34" charset="-122"/>
                          <a:cs typeface="Arial" pitchFamily="34" charset="-120"/>
                        </a:rPr>
                        <a:t>하는 일</a:t>
                      </a:r>
                      <a:endParaRPr lang="en-US" sz="1200" dirty="0">
                        <a:latin typeface="Arial" charset="0"/>
                        <a:ea typeface="Arial" charset="0"/>
                        <a:cs typeface="Arial" charset="0"/>
                      </a:endParaRPr>
                    </a:p>
                  </a:txBody>
                  <a:tcPr marL="53340" marR="53340" marT="53340" marB="53340">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C4621C"/>
                          </a:solidFill>
                          <a:latin typeface="Arial" pitchFamily="34" charset="0"/>
                          <a:ea typeface="Arial" pitchFamily="34" charset="-122"/>
                          <a:cs typeface="Arial" pitchFamily="34" charset="-120"/>
                        </a:rPr>
                        <a:t>Claude Code + Sonnet</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680"/>
                        </a:lnSpc>
                        <a:buNone/>
                      </a:pPr>
                      <a:r>
                        <a:rPr lang="en-US" sz="1200" dirty="0">
                          <a:solidFill>
                            <a:srgbClr val="4A5563"/>
                          </a:solidFill>
                          <a:latin typeface="Arial" pitchFamily="34" charset="0"/>
                          <a:ea typeface="Arial" pitchFamily="34" charset="-122"/>
                          <a:cs typeface="Arial" pitchFamily="34" charset="-120"/>
                        </a:rPr>
                        <a:t>보고서 작성, 질문 답변</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C4621C"/>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680"/>
                        </a:lnSpc>
                        <a:buNone/>
                      </a:pPr>
                      <a:r>
                        <a:rPr lang="en-US" sz="1200" dirty="0">
                          <a:solidFill>
                            <a:srgbClr val="4A5563"/>
                          </a:solidFill>
                          <a:latin typeface="Arial" pitchFamily="34" charset="0"/>
                          <a:ea typeface="Arial" pitchFamily="34" charset="-122"/>
                          <a:cs typeface="Arial" pitchFamily="34" charset="-120"/>
                        </a:rPr>
                        <a:t>AI가 내 기록을 읽는 연결 통로</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4A5563"/>
                          </a:solidFill>
                          <a:latin typeface="Arial" pitchFamily="34" charset="0"/>
                          <a:ea typeface="Arial" pitchFamily="34" charset="-122"/>
                          <a:cs typeface="Arial" pitchFamily="34" charset="-120"/>
                        </a:rPr>
                        <a:t>ActivityWatch</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680"/>
                        </a:lnSpc>
                        <a:buNone/>
                      </a:pPr>
                      <a:r>
                        <a:rPr lang="en-US" sz="1200" dirty="0">
                          <a:solidFill>
                            <a:srgbClr val="4A5563"/>
                          </a:solidFill>
                          <a:latin typeface="Arial" pitchFamily="34" charset="0"/>
                          <a:ea typeface="Arial" pitchFamily="34" charset="-122"/>
                          <a:cs typeface="Arial" pitchFamily="34" charset="-120"/>
                        </a:rPr>
                        <a:t>사용한 프로그램 기록</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4A5563"/>
                          </a:solidFill>
                          <a:latin typeface="Arial" pitchFamily="34" charset="0"/>
                          <a:ea typeface="Arial" pitchFamily="34" charset="-122"/>
                          <a:cs typeface="Arial" pitchFamily="34" charset="-120"/>
                        </a:rPr>
                        <a:t>dulwich</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680"/>
                        </a:lnSpc>
                        <a:buNone/>
                      </a:pPr>
                      <a:r>
                        <a:rPr lang="en-US" sz="1200" dirty="0">
                          <a:solidFill>
                            <a:srgbClr val="4A5563"/>
                          </a:solidFill>
                          <a:latin typeface="Arial" pitchFamily="34" charset="0"/>
                          <a:ea typeface="Arial" pitchFamily="34" charset="-122"/>
                          <a:cs typeface="Arial" pitchFamily="34" charset="-120"/>
                        </a:rPr>
                        <a:t>고친 파일 저장 (Git 방식)</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4A5563"/>
                          </a:solidFill>
                          <a:latin typeface="Arial" pitchFamily="34" charset="0"/>
                          <a:ea typeface="Arial" pitchFamily="34" charset="-122"/>
                          <a:cs typeface="Arial" pitchFamily="34" charset="-120"/>
                        </a:rPr>
                        <a:t>Python · SQLite</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680"/>
                        </a:lnSpc>
                        <a:buNone/>
                      </a:pPr>
                      <a:r>
                        <a:rPr lang="en-US" sz="1200" dirty="0">
                          <a:solidFill>
                            <a:srgbClr val="4A5563"/>
                          </a:solidFill>
                          <a:latin typeface="Arial" pitchFamily="34" charset="0"/>
                          <a:ea typeface="Arial" pitchFamily="34" charset="-122"/>
                          <a:cs typeface="Arial" pitchFamily="34" charset="-120"/>
                        </a:rPr>
                        <a:t>앱 본체와 저장소</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4A5563"/>
                          </a:solidFill>
                          <a:latin typeface="Arial" pitchFamily="34" charset="0"/>
                          <a:ea typeface="Arial" pitchFamily="34" charset="-122"/>
                          <a:cs typeface="Arial" pitchFamily="34" charset="-120"/>
                        </a:rPr>
                        <a:t>HTML · JavaScript</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680"/>
                        </a:lnSpc>
                        <a:buNone/>
                      </a:pPr>
                      <a:r>
                        <a:rPr lang="en-US" sz="1200" dirty="0">
                          <a:solidFill>
                            <a:srgbClr val="4A5563"/>
                          </a:solidFill>
                          <a:latin typeface="Arial" pitchFamily="34" charset="0"/>
                          <a:ea typeface="Arial" pitchFamily="34" charset="-122"/>
                          <a:cs typeface="Arial" pitchFamily="34" charset="-120"/>
                        </a:rPr>
                        <a:t>화면</a:t>
                      </a:r>
                      <a:endParaRPr lang="en-US" sz="1200" dirty="0">
                        <a:latin typeface="Arial" charset="0"/>
                        <a:ea typeface="Arial" charset="0"/>
                        <a:cs typeface="Arial"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2" name="Shape 19"/>
          <p:cNvSpPr/>
          <p:nvPr/>
        </p:nvSpPr>
        <p:spPr>
          <a:xfrm>
            <a:off x="812800" y="5008882"/>
            <a:ext cx="10566400" cy="543560"/>
          </a:xfrm>
          <a:prstGeom prst="roundRect">
            <a:avLst>
              <a:gd name="adj" fmla="val 23364"/>
            </a:avLst>
          </a:prstGeom>
          <a:solidFill>
            <a:srgbClr val="15202B"/>
          </a:solidFill>
          <a:ln/>
        </p:spPr>
      </p:sp>
      <p:sp>
        <p:nvSpPr>
          <p:cNvPr id="23" name="Text 20"/>
          <p:cNvSpPr/>
          <p:nvPr/>
        </p:nvSpPr>
        <p:spPr>
          <a:xfrm>
            <a:off x="1041400" y="5148582"/>
            <a:ext cx="1032986" cy="264160"/>
          </a:xfrm>
          <a:custGeom>
            <a:avLst/>
            <a:gdLst/>
            <a:ahLst/>
            <a:cxnLst/>
            <a:rect l="l" t="t" r="r" b="b"/>
            <a:pathLst>
              <a:path w="1032986" h="264160">
                <a:moveTo>
                  <a:pt x="127000" y="0"/>
                </a:moveTo>
                <a:lnTo>
                  <a:pt x="905986" y="0"/>
                </a:lnTo>
                <a:arcTo wR="127000" hR="127000" stAng="16200000" swAng="5400000"/>
                <a:lnTo>
                  <a:pt x="1032986" y="137160"/>
                </a:lnTo>
                <a:arcTo wR="127000" hR="127000" stAng="0" swAng="5400000"/>
                <a:lnTo>
                  <a:pt x="127000" y="264160"/>
                </a:lnTo>
                <a:arcTo wR="127000" hR="127000" stAng="5400000" swAng="5400000"/>
                <a:lnTo>
                  <a:pt x="0" y="127000"/>
                </a:lnTo>
                <a:arcTo wR="127000" hR="127000" stAng="10800000" swAng="5400000"/>
                <a:close/>
              </a:path>
            </a:pathLst>
          </a:custGeom>
          <a:solidFill>
            <a:srgbClr val="F0A35E"/>
          </a:solidFill>
          <a:ln/>
        </p:spPr>
        <p:txBody>
          <a:bodyPr wrap="none" lIns="0" tIns="0" rIns="0" bIns="0" rtlCol="0" anchor="ctr">
            <a:normAutofit/>
          </a:bodyPr>
          <a:lstStyle/>
          <a:p>
            <a:pPr marL="0" indent="0" algn="ctr">
              <a:lnSpc>
                <a:spcPts val="1680"/>
              </a:lnSpc>
              <a:buNone/>
            </a:pPr>
            <a:r>
              <a:rPr lang="en-US" sz="1200" b="1" dirty="0">
                <a:solidFill>
                  <a:srgbClr val="15202B"/>
                </a:solidFill>
                <a:latin typeface="Arial" pitchFamily="34" charset="0"/>
                <a:ea typeface="Arial" pitchFamily="34" charset="-122"/>
                <a:cs typeface="Arial" pitchFamily="34" charset="-120"/>
              </a:rPr>
              <a:t>개발에도 AI</a:t>
            </a:r>
            <a:endParaRPr lang="en-US" sz="1200" dirty="0"/>
          </a:p>
        </p:txBody>
      </p:sp>
      <p:sp>
        <p:nvSpPr>
          <p:cNvPr id="24" name="Text 21"/>
          <p:cNvSpPr/>
          <p:nvPr/>
        </p:nvSpPr>
        <p:spPr>
          <a:xfrm>
            <a:off x="2226786" y="5165089"/>
            <a:ext cx="722185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5F1"/>
                </a:solidFill>
                <a:latin typeface="Arial" pitchFamily="34" charset="0"/>
                <a:ea typeface="Arial" pitchFamily="34" charset="-122"/>
                <a:cs typeface="Arial" pitchFamily="34" charset="-120"/>
              </a:rPr>
              <a:t>Claude Code로 코드 </a:t>
            </a:r>
            <a:r>
              <a:rPr lang="en-US" sz="1300" dirty="0" err="1">
                <a:solidFill>
                  <a:srgbClr val="F6F5F1"/>
                </a:solidFill>
                <a:latin typeface="Arial" pitchFamily="34" charset="0"/>
                <a:ea typeface="Arial" pitchFamily="34" charset="-122"/>
                <a:cs typeface="Arial" pitchFamily="34" charset="-120"/>
              </a:rPr>
              <a:t>작성</a:t>
            </a:r>
            <a:r>
              <a:rPr lang="en-US" sz="1300" dirty="0">
                <a:solidFill>
                  <a:srgbClr val="F6F5F1"/>
                </a:solidFill>
                <a:latin typeface="Arial" pitchFamily="34" charset="0"/>
                <a:ea typeface="Arial" pitchFamily="34" charset="-122"/>
                <a:cs typeface="Arial" pitchFamily="34" charset="-120"/>
              </a:rPr>
              <a:t> · AI 보안 점검 · AI 보고서 품질 시험</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4621C"/>
                </a:solidFill>
                <a:latin typeface="Arial" pitchFamily="34" charset="0"/>
                <a:ea typeface="Arial" pitchFamily="34" charset="-122"/>
                <a:cs typeface="Arial" pitchFamily="34" charset="-120"/>
              </a:rPr>
              <a:t>04 · 시연 ① 기록</a:t>
            </a:r>
            <a:endParaRPr lang="en-US" sz="1400" dirty="0"/>
          </a:p>
        </p:txBody>
      </p:sp>
      <p:sp>
        <p:nvSpPr>
          <p:cNvPr id="3" name="Text 1"/>
          <p:cNvSpPr>
            <a:spLocks noGrp="1"/>
          </p:cNvSpPr>
          <p:nvPr>
            <p:ph type="title"/>
          </p:nvPr>
        </p:nvSpPr>
        <p:spPr>
          <a:xfrm>
            <a:off x="812800" y="116332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02B"/>
                </a:solidFill>
                <a:latin typeface="Arial" pitchFamily="34" charset="0"/>
                <a:ea typeface="Arial" pitchFamily="34" charset="-122"/>
                <a:cs typeface="Arial" pitchFamily="34" charset="-120"/>
              </a:rPr>
              <a:t>본 것보다, 실제로 고친 것을 기록</a:t>
            </a:r>
            <a:endParaRPr lang="en-US" sz="3200" dirty="0"/>
          </a:p>
        </p:txBody>
      </p:sp>
      <p:sp>
        <p:nvSpPr>
          <p:cNvPr id="4" name="Shape 2"/>
          <p:cNvSpPr/>
          <p:nvPr/>
        </p:nvSpPr>
        <p:spPr>
          <a:xfrm>
            <a:off x="812800" y="1884682"/>
            <a:ext cx="6223000" cy="3886200"/>
          </a:xfrm>
          <a:prstGeom prst="roundRect">
            <a:avLst>
              <a:gd name="adj" fmla="val 2614"/>
            </a:avLst>
          </a:prstGeom>
          <a:solidFill>
            <a:srgbClr val="FFFFFF"/>
          </a:solidFill>
          <a:ln/>
        </p:spPr>
      </p:sp>
      <p:pic>
        <p:nvPicPr>
          <p:cNvPr id="5" name="Image 0" descr="하루 기록 화면에서 고친 파일 이름을 눌러 바뀐 내용을 연 모습"/>
          <p:cNvPicPr>
            <a:picLocks noChangeAspect="1"/>
          </p:cNvPicPr>
          <p:nvPr/>
        </p:nvPicPr>
        <p:blipFill>
          <a:blip r:embed="rId3"/>
          <a:srcRect l="-164" r="-164"/>
          <a:stretch/>
        </p:blipFill>
        <p:spPr>
          <a:xfrm>
            <a:off x="825500" y="1897382"/>
            <a:ext cx="6197600" cy="3860800"/>
          </a:xfrm>
          <a:prstGeom prst="roundRect">
            <a:avLst>
              <a:gd name="adj" fmla="val 2303"/>
            </a:avLst>
          </a:prstGeom>
        </p:spPr>
      </p:pic>
      <p:sp>
        <p:nvSpPr>
          <p:cNvPr id="6" name="Shape 3"/>
          <p:cNvSpPr/>
          <p:nvPr/>
        </p:nvSpPr>
        <p:spPr>
          <a:xfrm>
            <a:off x="819150" y="1891032"/>
            <a:ext cx="6210300" cy="3873500"/>
          </a:xfrm>
          <a:prstGeom prst="roundRect">
            <a:avLst>
              <a:gd name="adj" fmla="val 2459"/>
            </a:avLst>
          </a:prstGeom>
          <a:noFill/>
          <a:ln w="12700">
            <a:solidFill>
              <a:srgbClr val="D9D6CC"/>
            </a:solidFill>
            <a:prstDash val="solid"/>
          </a:ln>
        </p:spPr>
      </p:sp>
      <p:sp>
        <p:nvSpPr>
          <p:cNvPr id="7" name="Text 4"/>
          <p:cNvSpPr/>
          <p:nvPr/>
        </p:nvSpPr>
        <p:spPr>
          <a:xfrm>
            <a:off x="7340600" y="1884682"/>
            <a:ext cx="415975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D6CDF"/>
                </a:solidFill>
                <a:latin typeface="Arial" pitchFamily="34" charset="0"/>
                <a:ea typeface="Arial" pitchFamily="34" charset="-122"/>
                <a:cs typeface="Arial" pitchFamily="34" charset="-120"/>
              </a:rPr>
              <a:t>고친 내용</a:t>
            </a:r>
            <a:endParaRPr lang="en-US" sz="1700" dirty="0"/>
          </a:p>
        </p:txBody>
      </p:sp>
      <p:sp>
        <p:nvSpPr>
          <p:cNvPr id="8" name="Text 5"/>
          <p:cNvSpPr/>
          <p:nvPr/>
        </p:nvSpPr>
        <p:spPr>
          <a:xfrm>
            <a:off x="7340600" y="2194561"/>
            <a:ext cx="4159758" cy="5943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4A5563"/>
                </a:solidFill>
                <a:latin typeface="Arial" pitchFamily="34" charset="0"/>
                <a:ea typeface="Arial" pitchFamily="34" charset="-122"/>
                <a:cs typeface="Arial" pitchFamily="34" charset="-120"/>
              </a:rPr>
              <a:t>파일 이름을 누르면 무엇을 바꿨는지 보여 줍니다. 초록 줄이 새로 쓴 내용.</a:t>
            </a:r>
            <a:endParaRPr lang="en-US" sz="1400" dirty="0"/>
          </a:p>
        </p:txBody>
      </p:sp>
      <p:sp>
        <p:nvSpPr>
          <p:cNvPr id="9" name="Text 6"/>
          <p:cNvSpPr/>
          <p:nvPr/>
        </p:nvSpPr>
        <p:spPr>
          <a:xfrm>
            <a:off x="7340600" y="2941321"/>
            <a:ext cx="415975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D6CDF"/>
                </a:solidFill>
                <a:latin typeface="Arial" pitchFamily="34" charset="0"/>
                <a:ea typeface="Arial" pitchFamily="34" charset="-122"/>
                <a:cs typeface="Arial" pitchFamily="34" charset="-120"/>
              </a:rPr>
              <a:t>작업 시간표</a:t>
            </a:r>
            <a:endParaRPr lang="en-US" sz="1700" dirty="0"/>
          </a:p>
        </p:txBody>
      </p:sp>
      <p:sp>
        <p:nvSpPr>
          <p:cNvPr id="10" name="Text 7"/>
          <p:cNvSpPr/>
          <p:nvPr/>
        </p:nvSpPr>
        <p:spPr>
          <a:xfrm>
            <a:off x="7340600" y="3251200"/>
            <a:ext cx="4159758" cy="5943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4A5563"/>
                </a:solidFill>
                <a:latin typeface="Arial" pitchFamily="34" charset="0"/>
                <a:ea typeface="Arial" pitchFamily="34" charset="-122"/>
                <a:cs typeface="Arial" pitchFamily="34" charset="-120"/>
              </a:rPr>
              <a:t>쓴 프로그램을 작업 단위로 자동으로 묶습니다. 제목과 프로젝트는 고칠 수 있습니다.</a:t>
            </a:r>
            <a:endParaRPr lang="en-US" sz="1400" dirty="0"/>
          </a:p>
        </p:txBody>
      </p:sp>
      <p:sp>
        <p:nvSpPr>
          <p:cNvPr id="11" name="Text 8"/>
          <p:cNvSpPr/>
          <p:nvPr/>
        </p:nvSpPr>
        <p:spPr>
          <a:xfrm>
            <a:off x="7340600" y="3997961"/>
            <a:ext cx="415975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D6CDF"/>
                </a:solidFill>
                <a:latin typeface="Arial" pitchFamily="34" charset="0"/>
                <a:ea typeface="Arial" pitchFamily="34" charset="-122"/>
                <a:cs typeface="Arial" pitchFamily="34" charset="-120"/>
              </a:rPr>
              <a:t>자동과 직접 구분</a:t>
            </a:r>
            <a:endParaRPr lang="en-US" sz="1700" dirty="0"/>
          </a:p>
        </p:txBody>
      </p:sp>
      <p:sp>
        <p:nvSpPr>
          <p:cNvPr id="12" name="Text 9"/>
          <p:cNvSpPr/>
          <p:nvPr/>
        </p:nvSpPr>
        <p:spPr>
          <a:xfrm>
            <a:off x="7340600" y="4307839"/>
            <a:ext cx="4159758" cy="5943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4A5563"/>
                </a:solidFill>
                <a:latin typeface="Arial" pitchFamily="34" charset="0"/>
                <a:ea typeface="Arial" pitchFamily="34" charset="-122"/>
                <a:cs typeface="Arial" pitchFamily="34" charset="-120"/>
              </a:rPr>
              <a:t>자동으로 짐작한 것은 “자동 추정”, 내가 쓴 메모는 “직접 작성”.</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4621C"/>
                </a:solidFill>
                <a:latin typeface="Arial" pitchFamily="34" charset="0"/>
                <a:ea typeface="Arial" pitchFamily="34" charset="-122"/>
                <a:cs typeface="Arial" pitchFamily="34" charset="-120"/>
              </a:rPr>
              <a:t>04 · 시연 ② 주간보고</a:t>
            </a:r>
            <a:endParaRPr lang="en-US" sz="1400" dirty="0"/>
          </a:p>
        </p:txBody>
      </p:sp>
      <p:sp>
        <p:nvSpPr>
          <p:cNvPr id="3" name="Text 1"/>
          <p:cNvSpPr>
            <a:spLocks noGrp="1"/>
          </p:cNvSpPr>
          <p:nvPr>
            <p:ph type="title"/>
          </p:nvPr>
        </p:nvSpPr>
        <p:spPr>
          <a:xfrm>
            <a:off x="812800" y="116332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02B"/>
                </a:solidFill>
                <a:latin typeface="Arial" pitchFamily="34" charset="0"/>
                <a:ea typeface="Arial" pitchFamily="34" charset="-122"/>
                <a:cs typeface="Arial" pitchFamily="34" charset="-120"/>
              </a:rPr>
              <a:t>버튼 한 번에 주간보고 초안</a:t>
            </a:r>
            <a:endParaRPr lang="en-US" sz="3200" dirty="0"/>
          </a:p>
        </p:txBody>
      </p:sp>
      <p:sp>
        <p:nvSpPr>
          <p:cNvPr id="4" name="Shape 2"/>
          <p:cNvSpPr/>
          <p:nvPr/>
        </p:nvSpPr>
        <p:spPr>
          <a:xfrm>
            <a:off x="812800" y="1884682"/>
            <a:ext cx="6223000" cy="3886200"/>
          </a:xfrm>
          <a:prstGeom prst="roundRect">
            <a:avLst>
              <a:gd name="adj" fmla="val 2614"/>
            </a:avLst>
          </a:prstGeom>
          <a:solidFill>
            <a:srgbClr val="FFFFFF"/>
          </a:solidFill>
          <a:ln/>
        </p:spPr>
      </p:sp>
      <p:pic>
        <p:nvPicPr>
          <p:cNvPr id="5" name="Image 0" descr="보고서 화면: 왼쪽에 AI가 쓴 주간보고 초안, 오른쪽에 문장마다 붙은 출처"/>
          <p:cNvPicPr>
            <a:picLocks noChangeAspect="1"/>
          </p:cNvPicPr>
          <p:nvPr/>
        </p:nvPicPr>
        <p:blipFill>
          <a:blip r:embed="rId3"/>
          <a:srcRect l="-164" r="-164"/>
          <a:stretch/>
        </p:blipFill>
        <p:spPr>
          <a:xfrm>
            <a:off x="825500" y="1897382"/>
            <a:ext cx="6197600" cy="3860800"/>
          </a:xfrm>
          <a:prstGeom prst="roundRect">
            <a:avLst>
              <a:gd name="adj" fmla="val 2303"/>
            </a:avLst>
          </a:prstGeom>
        </p:spPr>
      </p:pic>
      <p:sp>
        <p:nvSpPr>
          <p:cNvPr id="6" name="Shape 3"/>
          <p:cNvSpPr/>
          <p:nvPr/>
        </p:nvSpPr>
        <p:spPr>
          <a:xfrm>
            <a:off x="819150" y="1891032"/>
            <a:ext cx="6210300" cy="3873500"/>
          </a:xfrm>
          <a:prstGeom prst="roundRect">
            <a:avLst>
              <a:gd name="adj" fmla="val 2459"/>
            </a:avLst>
          </a:prstGeom>
          <a:noFill/>
          <a:ln w="12700">
            <a:solidFill>
              <a:srgbClr val="D9D6CC"/>
            </a:solidFill>
            <a:prstDash val="solid"/>
          </a:ln>
        </p:spPr>
      </p:sp>
      <p:sp>
        <p:nvSpPr>
          <p:cNvPr id="7" name="Text 4"/>
          <p:cNvSpPr/>
          <p:nvPr/>
        </p:nvSpPr>
        <p:spPr>
          <a:xfrm>
            <a:off x="7340600" y="1884682"/>
            <a:ext cx="415975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D6CDF"/>
                </a:solidFill>
                <a:latin typeface="Arial" pitchFamily="34" charset="0"/>
                <a:ea typeface="Arial" pitchFamily="34" charset="-122"/>
                <a:cs typeface="Arial" pitchFamily="34" charset="-120"/>
              </a:rPr>
              <a:t>왼쪽: 초안</a:t>
            </a:r>
            <a:endParaRPr lang="en-US" sz="1700" dirty="0"/>
          </a:p>
        </p:txBody>
      </p:sp>
      <p:sp>
        <p:nvSpPr>
          <p:cNvPr id="8" name="Text 5"/>
          <p:cNvSpPr/>
          <p:nvPr/>
        </p:nvSpPr>
        <p:spPr>
          <a:xfrm>
            <a:off x="7340600" y="2194561"/>
            <a:ext cx="4159758" cy="5943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4A5563"/>
                </a:solidFill>
                <a:latin typeface="Arial" pitchFamily="34" charset="0"/>
                <a:ea typeface="Arial" pitchFamily="34" charset="-122"/>
                <a:cs typeface="Arial" pitchFamily="34" charset="-120"/>
              </a:rPr>
              <a:t>이번 주 한 일, 다음 주 계획, 이슈를 프로젝트별로. 고쳐서 저장하거나 복사.</a:t>
            </a:r>
            <a:endParaRPr lang="en-US" sz="1400" dirty="0"/>
          </a:p>
        </p:txBody>
      </p:sp>
      <p:sp>
        <p:nvSpPr>
          <p:cNvPr id="9" name="Text 6"/>
          <p:cNvSpPr/>
          <p:nvPr/>
        </p:nvSpPr>
        <p:spPr>
          <a:xfrm>
            <a:off x="7340600" y="2941321"/>
            <a:ext cx="415975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D6CDF"/>
                </a:solidFill>
                <a:latin typeface="Arial" pitchFamily="34" charset="0"/>
                <a:ea typeface="Arial" pitchFamily="34" charset="-122"/>
                <a:cs typeface="Arial" pitchFamily="34" charset="-120"/>
              </a:rPr>
              <a:t>오른쪽: 출처</a:t>
            </a:r>
            <a:endParaRPr lang="en-US" sz="1700" dirty="0"/>
          </a:p>
        </p:txBody>
      </p:sp>
      <p:sp>
        <p:nvSpPr>
          <p:cNvPr id="10" name="Text 7"/>
          <p:cNvSpPr/>
          <p:nvPr/>
        </p:nvSpPr>
        <p:spPr>
          <a:xfrm>
            <a:off x="7340600" y="3251200"/>
            <a:ext cx="4159758" cy="5943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4A5563"/>
                </a:solidFill>
                <a:latin typeface="Arial" pitchFamily="34" charset="0"/>
                <a:ea typeface="Arial" pitchFamily="34" charset="-122"/>
                <a:cs typeface="Arial" pitchFamily="34" charset="-120"/>
              </a:rPr>
              <a:t>문장마다 어느 기록에서 나왔는지. 주황은 고친 파일, 초록은 내 메모, 회색은 작업 시간.</a:t>
            </a:r>
            <a:endParaRPr lang="en-US" sz="1400" dirty="0"/>
          </a:p>
        </p:txBody>
      </p:sp>
      <p:sp>
        <p:nvSpPr>
          <p:cNvPr id="11" name="Text 8"/>
          <p:cNvSpPr/>
          <p:nvPr/>
        </p:nvSpPr>
        <p:spPr>
          <a:xfrm>
            <a:off x="7340600" y="3997961"/>
            <a:ext cx="415975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D6CDF"/>
                </a:solidFill>
                <a:latin typeface="Arial" pitchFamily="34" charset="0"/>
                <a:ea typeface="Arial" pitchFamily="34" charset="-122"/>
                <a:cs typeface="Arial" pitchFamily="34" charset="-120"/>
              </a:rPr>
              <a:t>출처가 없으면 표시</a:t>
            </a:r>
            <a:endParaRPr lang="en-US" sz="1700" dirty="0"/>
          </a:p>
        </p:txBody>
      </p:sp>
      <p:sp>
        <p:nvSpPr>
          <p:cNvPr id="12" name="Text 9"/>
          <p:cNvSpPr/>
          <p:nvPr/>
        </p:nvSpPr>
        <p:spPr>
          <a:xfrm>
            <a:off x="7340600" y="4307839"/>
            <a:ext cx="4159758" cy="30988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4A5563"/>
                </a:solidFill>
                <a:latin typeface="Arial" pitchFamily="34" charset="0"/>
                <a:ea typeface="Arial" pitchFamily="34" charset="-122"/>
                <a:cs typeface="Arial" pitchFamily="34" charset="-120"/>
              </a:rPr>
              <a:t>“근거 없음”이 붙은 문장은 사람이 직접 확인.</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4621C"/>
                </a:solidFill>
                <a:latin typeface="Arial" pitchFamily="34" charset="0"/>
                <a:ea typeface="Arial" pitchFamily="34" charset="-122"/>
                <a:cs typeface="Arial" pitchFamily="34" charset="-120"/>
              </a:rPr>
              <a:t>04 · 시연 ③ 물어보기</a:t>
            </a:r>
            <a:endParaRPr lang="en-US" sz="1400" dirty="0"/>
          </a:p>
        </p:txBody>
      </p:sp>
      <p:sp>
        <p:nvSpPr>
          <p:cNvPr id="3" name="Text 1"/>
          <p:cNvSpPr>
            <a:spLocks noGrp="1"/>
          </p:cNvSpPr>
          <p:nvPr>
            <p:ph type="title"/>
          </p:nvPr>
        </p:nvSpPr>
        <p:spPr>
          <a:xfrm>
            <a:off x="812800" y="116332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5202B"/>
                </a:solidFill>
                <a:latin typeface="Arial" pitchFamily="34" charset="0"/>
                <a:ea typeface="Arial" pitchFamily="34" charset="-122"/>
                <a:cs typeface="Arial" pitchFamily="34" charset="-120"/>
              </a:rPr>
              <a:t>기록에 있으면 출처와 함께, 없으면 모른다고</a:t>
            </a:r>
            <a:endParaRPr lang="en-US" sz="3200" dirty="0"/>
          </a:p>
        </p:txBody>
      </p:sp>
      <p:sp>
        <p:nvSpPr>
          <p:cNvPr id="4" name="Shape 2"/>
          <p:cNvSpPr/>
          <p:nvPr/>
        </p:nvSpPr>
        <p:spPr>
          <a:xfrm>
            <a:off x="812800" y="1859282"/>
            <a:ext cx="9207500" cy="2641600"/>
          </a:xfrm>
          <a:prstGeom prst="roundRect">
            <a:avLst>
              <a:gd name="adj" fmla="val 3846"/>
            </a:avLst>
          </a:prstGeom>
          <a:solidFill>
            <a:srgbClr val="FFFFFF"/>
          </a:solidFill>
          <a:ln/>
        </p:spPr>
      </p:sp>
      <p:pic>
        <p:nvPicPr>
          <p:cNvPr id="5" name="Image 0" descr="'지난주 GOV-1418 어디까지 했지?'라는 질문에 날짜별로 답하고 문장마다 출처를 붙인 화면"/>
          <p:cNvPicPr>
            <a:picLocks noChangeAspect="1"/>
          </p:cNvPicPr>
          <p:nvPr/>
        </p:nvPicPr>
        <p:blipFill>
          <a:blip r:embed="rId3"/>
          <a:srcRect l="-376" r="-376"/>
          <a:stretch/>
        </p:blipFill>
        <p:spPr>
          <a:xfrm>
            <a:off x="825500" y="1871982"/>
            <a:ext cx="9182100" cy="2616200"/>
          </a:xfrm>
          <a:prstGeom prst="roundRect">
            <a:avLst>
              <a:gd name="adj" fmla="val 3398"/>
            </a:avLst>
          </a:prstGeom>
        </p:spPr>
      </p:pic>
      <p:sp>
        <p:nvSpPr>
          <p:cNvPr id="6" name="Shape 3"/>
          <p:cNvSpPr/>
          <p:nvPr/>
        </p:nvSpPr>
        <p:spPr>
          <a:xfrm>
            <a:off x="819150" y="1865632"/>
            <a:ext cx="9194800" cy="2628900"/>
          </a:xfrm>
          <a:prstGeom prst="roundRect">
            <a:avLst>
              <a:gd name="adj" fmla="val 3623"/>
            </a:avLst>
          </a:prstGeom>
          <a:noFill/>
          <a:ln w="12700">
            <a:solidFill>
              <a:srgbClr val="D9D6CC"/>
            </a:solidFill>
            <a:prstDash val="solid"/>
          </a:ln>
        </p:spPr>
      </p:sp>
      <p:sp>
        <p:nvSpPr>
          <p:cNvPr id="7" name="Shape 4"/>
          <p:cNvSpPr/>
          <p:nvPr/>
        </p:nvSpPr>
        <p:spPr>
          <a:xfrm>
            <a:off x="812800" y="4729482"/>
            <a:ext cx="6144736" cy="887730"/>
          </a:xfrm>
          <a:prstGeom prst="roundRect">
            <a:avLst>
              <a:gd name="adj" fmla="val 14306"/>
            </a:avLst>
          </a:prstGeom>
          <a:solidFill>
            <a:srgbClr val="15202B"/>
          </a:solidFill>
          <a:ln/>
        </p:spPr>
      </p:sp>
      <p:sp>
        <p:nvSpPr>
          <p:cNvPr id="8" name="Text 5"/>
          <p:cNvSpPr/>
          <p:nvPr/>
        </p:nvSpPr>
        <p:spPr>
          <a:xfrm>
            <a:off x="1041400" y="4907282"/>
            <a:ext cx="58581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35E"/>
                </a:solidFill>
                <a:latin typeface="Arial" pitchFamily="34" charset="0"/>
                <a:ea typeface="Arial" pitchFamily="34" charset="-122"/>
                <a:cs typeface="Arial" pitchFamily="34" charset="-120"/>
              </a:rPr>
              <a:t>기록에 없는 일을 물으면 · “AI 기본법 대응 작업은 어디까지 했지?”</a:t>
            </a:r>
            <a:endParaRPr lang="en-US" sz="1200" dirty="0"/>
          </a:p>
        </p:txBody>
      </p:sp>
      <p:sp>
        <p:nvSpPr>
          <p:cNvPr id="9" name="Text 6"/>
          <p:cNvSpPr/>
          <p:nvPr/>
        </p:nvSpPr>
        <p:spPr>
          <a:xfrm>
            <a:off x="1041400" y="5171439"/>
            <a:ext cx="5858162"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6F5F1"/>
                </a:solidFill>
                <a:latin typeface="Arial" pitchFamily="34" charset="0"/>
                <a:ea typeface="Arial" pitchFamily="34" charset="-122"/>
                <a:cs typeface="Arial" pitchFamily="34" charset="-120"/>
              </a:rPr>
              <a:t>“AI 기본법 대응 작업은 기록에서 찾지 못했습니다.”</a:t>
            </a:r>
            <a:endParaRPr lang="en-US" sz="1400" dirty="0"/>
          </a:p>
        </p:txBody>
      </p:sp>
      <p:sp>
        <p:nvSpPr>
          <p:cNvPr id="10" name="Shape 7"/>
          <p:cNvSpPr/>
          <p:nvPr/>
        </p:nvSpPr>
        <p:spPr>
          <a:xfrm>
            <a:off x="7116287" y="4735832"/>
            <a:ext cx="4256564" cy="875030"/>
          </a:xfrm>
          <a:prstGeom prst="roundRect">
            <a:avLst>
              <a:gd name="adj" fmla="val 13788"/>
            </a:avLst>
          </a:prstGeom>
          <a:solidFill>
            <a:srgbClr val="FFFFFF"/>
          </a:solidFill>
          <a:ln w="12700">
            <a:solidFill>
              <a:srgbClr val="D9D6CC"/>
            </a:solidFill>
            <a:prstDash val="solid"/>
          </a:ln>
        </p:spPr>
      </p:sp>
      <p:sp>
        <p:nvSpPr>
          <p:cNvPr id="11" name="Text 8"/>
          <p:cNvSpPr/>
          <p:nvPr/>
        </p:nvSpPr>
        <p:spPr>
          <a:xfrm>
            <a:off x="7348696" y="4917439"/>
            <a:ext cx="390549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DF"/>
                </a:solidFill>
                <a:latin typeface="Arial" pitchFamily="34" charset="0"/>
                <a:ea typeface="Arial" pitchFamily="34" charset="-122"/>
                <a:cs typeface="Arial" pitchFamily="34" charset="-120"/>
              </a:rPr>
              <a:t>개발자용 AI 도구에서도</a:t>
            </a:r>
            <a:endParaRPr lang="en-US" sz="1200" dirty="0"/>
          </a:p>
        </p:txBody>
      </p:sp>
      <p:sp>
        <p:nvSpPr>
          <p:cNvPr id="12" name="Text 9"/>
          <p:cNvSpPr/>
          <p:nvPr/>
        </p:nvSpPr>
        <p:spPr>
          <a:xfrm>
            <a:off x="7348696" y="5181600"/>
            <a:ext cx="3905496"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A5563"/>
                </a:solidFill>
                <a:latin typeface="Arial" pitchFamily="34" charset="0"/>
                <a:ea typeface="Arial" pitchFamily="34" charset="-122"/>
                <a:cs typeface="Arial" pitchFamily="34" charset="-120"/>
              </a:rPr>
              <a:t>Claude Code에서 같은 질문 가능</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49634"/>
          </a:xfrm>
          <a:prstGeom prst="rect">
            <a:avLst/>
          </a:prstGeom>
          <a:noFill/>
          <a:ln/>
        </p:spPr>
        <p:txBody>
          <a:bodyPr wrap="square" lIns="0" tIns="0" rIns="0" bIns="0" rtlCol="0" anchor="t">
            <a:normAutofit/>
          </a:bodyPr>
          <a:lstStyle/>
          <a:p>
            <a:pPr marL="0" indent="0" algn="l">
              <a:lnSpc>
                <a:spcPts val="1770"/>
              </a:lnSpc>
              <a:buNone/>
            </a:pPr>
            <a:r>
              <a:rPr lang="en-US" sz="1264" b="1" dirty="0">
                <a:solidFill>
                  <a:srgbClr val="C4621C"/>
                </a:solidFill>
                <a:latin typeface="Arial" pitchFamily="34" charset="0"/>
                <a:ea typeface="Arial" pitchFamily="34" charset="-122"/>
                <a:cs typeface="Arial" pitchFamily="34" charset="-120"/>
              </a:rPr>
              <a:t>05 · 잰 것</a:t>
            </a:r>
            <a:endParaRPr lang="en-US" sz="1264" dirty="0"/>
          </a:p>
        </p:txBody>
      </p:sp>
      <p:sp>
        <p:nvSpPr>
          <p:cNvPr id="3" name="Text 1"/>
          <p:cNvSpPr>
            <a:spLocks noGrp="1"/>
          </p:cNvSpPr>
          <p:nvPr>
            <p:ph type="title"/>
          </p:nvPr>
        </p:nvSpPr>
        <p:spPr>
          <a:xfrm>
            <a:off x="812800" y="1138634"/>
            <a:ext cx="10883392" cy="498951"/>
          </a:xfrm>
          <a:prstGeom prst="rect">
            <a:avLst/>
          </a:prstGeom>
          <a:noFill/>
          <a:ln/>
        </p:spPr>
        <p:txBody>
          <a:bodyPr wrap="square" lIns="0" tIns="0" rIns="0" bIns="0" rtlCol="0" anchor="t">
            <a:normAutofit/>
          </a:bodyPr>
          <a:lstStyle/>
          <a:p>
            <a:pPr marL="0" indent="0" algn="l">
              <a:lnSpc>
                <a:spcPts val="3765"/>
              </a:lnSpc>
              <a:buNone/>
            </a:pPr>
            <a:r>
              <a:rPr lang="en-US" sz="3274" b="1" i="0" dirty="0">
                <a:solidFill>
                  <a:srgbClr val="15202B"/>
                </a:solidFill>
                <a:latin typeface="Arial" pitchFamily="34" charset="0"/>
                <a:ea typeface="Arial" pitchFamily="34" charset="-122"/>
                <a:cs typeface="Arial" pitchFamily="34" charset="-120"/>
              </a:rPr>
              <a:t>직접 재 본 숫자만 적었습니다</a:t>
            </a:r>
            <a:endParaRPr lang="en-US" sz="3274" dirty="0"/>
          </a:p>
        </p:txBody>
      </p:sp>
      <p:sp>
        <p:nvSpPr>
          <p:cNvPr id="4" name="Shape 2"/>
          <p:cNvSpPr/>
          <p:nvPr/>
        </p:nvSpPr>
        <p:spPr>
          <a:xfrm>
            <a:off x="819150" y="1923337"/>
            <a:ext cx="3407807" cy="1873568"/>
          </a:xfrm>
          <a:prstGeom prst="roundRect">
            <a:avLst>
              <a:gd name="adj" fmla="val 7795"/>
            </a:avLst>
          </a:prstGeom>
          <a:solidFill>
            <a:srgbClr val="FFFFFF"/>
          </a:solidFill>
          <a:ln w="12700">
            <a:solidFill>
              <a:srgbClr val="D9D6CC"/>
            </a:solidFill>
            <a:prstDash val="solid"/>
          </a:ln>
        </p:spPr>
      </p:sp>
      <p:sp>
        <p:nvSpPr>
          <p:cNvPr id="5" name="Text 3"/>
          <p:cNvSpPr/>
          <p:nvPr/>
        </p:nvSpPr>
        <p:spPr>
          <a:xfrm>
            <a:off x="1076960" y="2181147"/>
            <a:ext cx="2978952" cy="609838"/>
          </a:xfrm>
          <a:prstGeom prst="rect">
            <a:avLst/>
          </a:prstGeom>
          <a:noFill/>
          <a:ln/>
        </p:spPr>
        <p:txBody>
          <a:bodyPr wrap="square" lIns="0" tIns="0" rIns="0" bIns="0" rtlCol="0" anchor="t">
            <a:normAutofit/>
          </a:bodyPr>
          <a:lstStyle/>
          <a:p>
            <a:pPr marL="0" indent="0" algn="l">
              <a:lnSpc>
                <a:spcPts val="4620"/>
              </a:lnSpc>
              <a:buNone/>
            </a:pPr>
            <a:r>
              <a:rPr lang="en-US" sz="4200" b="1" dirty="0">
                <a:solidFill>
                  <a:srgbClr val="2D6CDF"/>
                </a:solidFill>
                <a:latin typeface="Arial" pitchFamily="34" charset="0"/>
                <a:ea typeface="Arial" pitchFamily="34" charset="-122"/>
                <a:cs typeface="Arial" pitchFamily="34" charset="-120"/>
              </a:rPr>
              <a:t>8 / 8</a:t>
            </a:r>
            <a:endParaRPr lang="en-US" sz="4200" dirty="0"/>
          </a:p>
        </p:txBody>
      </p:sp>
      <p:sp>
        <p:nvSpPr>
          <p:cNvPr id="6" name="Text 4"/>
          <p:cNvSpPr/>
          <p:nvPr/>
        </p:nvSpPr>
        <p:spPr>
          <a:xfrm>
            <a:off x="1076960" y="2841783"/>
            <a:ext cx="2978952" cy="722709"/>
          </a:xfrm>
          <a:prstGeom prst="rect">
            <a:avLst/>
          </a:prstGeom>
          <a:noFill/>
          <a:ln/>
        </p:spPr>
        <p:txBody>
          <a:bodyPr wrap="square" lIns="0" tIns="0" rIns="0" bIns="0" rtlCol="0" anchor="t">
            <a:normAutofit/>
          </a:bodyPr>
          <a:lstStyle/>
          <a:p>
            <a:pPr marL="0" indent="0" algn="l">
              <a:lnSpc>
                <a:spcPts val="1838"/>
              </a:lnSpc>
              <a:buNone/>
            </a:pPr>
            <a:r>
              <a:rPr lang="en-US" sz="1225" dirty="0">
                <a:solidFill>
                  <a:srgbClr val="4A5563"/>
                </a:solidFill>
                <a:latin typeface="Arial" pitchFamily="34" charset="0"/>
                <a:ea typeface="Arial" pitchFamily="34" charset="-122"/>
                <a:cs typeface="Arial" pitchFamily="34" charset="-120"/>
              </a:rPr>
              <a:t>AI 주간보고 시험 통과</a:t>
            </a:r>
            <a:endParaRPr lang="en-US" sz="1225" dirty="0"/>
          </a:p>
          <a:p>
            <a:pPr marL="0" indent="0" algn="l">
              <a:lnSpc>
                <a:spcPts val="1838"/>
              </a:lnSpc>
              <a:buNone/>
            </a:pPr>
            <a:r>
              <a:rPr lang="en-US" sz="1225" dirty="0">
                <a:solidFill>
                  <a:srgbClr val="4A5563"/>
                </a:solidFill>
                <a:latin typeface="Arial" pitchFamily="34" charset="0"/>
                <a:ea typeface="Arial" pitchFamily="34" charset="-122"/>
                <a:cs typeface="Arial" pitchFamily="34" charset="-120"/>
              </a:rPr>
              <a:t>빠진 내용 없음 · 안 끝난 일을 “완료”로 쓴 경우 0</a:t>
            </a:r>
            <a:endParaRPr lang="en-US" sz="1225" dirty="0"/>
          </a:p>
        </p:txBody>
      </p:sp>
      <p:sp>
        <p:nvSpPr>
          <p:cNvPr id="7" name="Shape 5"/>
          <p:cNvSpPr/>
          <p:nvPr/>
        </p:nvSpPr>
        <p:spPr>
          <a:xfrm>
            <a:off x="4392057" y="1923337"/>
            <a:ext cx="3407807" cy="1873568"/>
          </a:xfrm>
          <a:prstGeom prst="roundRect">
            <a:avLst>
              <a:gd name="adj" fmla="val 7795"/>
            </a:avLst>
          </a:prstGeom>
          <a:solidFill>
            <a:srgbClr val="FFFFFF"/>
          </a:solidFill>
          <a:ln w="12700">
            <a:solidFill>
              <a:srgbClr val="D9D6CC"/>
            </a:solidFill>
            <a:prstDash val="solid"/>
          </a:ln>
        </p:spPr>
      </p:sp>
      <p:sp>
        <p:nvSpPr>
          <p:cNvPr id="8" name="Text 6"/>
          <p:cNvSpPr/>
          <p:nvPr/>
        </p:nvSpPr>
        <p:spPr>
          <a:xfrm>
            <a:off x="4649867" y="2181147"/>
            <a:ext cx="2978952"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2D6CDF"/>
                </a:solidFill>
                <a:latin typeface="Arial" pitchFamily="34" charset="0"/>
                <a:ea typeface="Arial" pitchFamily="34" charset="-122"/>
                <a:cs typeface="Arial" pitchFamily="34" charset="-120"/>
              </a:rPr>
              <a:t>7.4초</a:t>
            </a:r>
            <a:endParaRPr lang="en-US" sz="4800" dirty="0"/>
          </a:p>
        </p:txBody>
      </p:sp>
      <p:sp>
        <p:nvSpPr>
          <p:cNvPr id="9" name="Text 7"/>
          <p:cNvSpPr/>
          <p:nvPr/>
        </p:nvSpPr>
        <p:spPr>
          <a:xfrm>
            <a:off x="4649867" y="2927905"/>
            <a:ext cx="2978952"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563"/>
                </a:solidFill>
                <a:latin typeface="Arial" pitchFamily="34" charset="0"/>
                <a:ea typeface="Arial" pitchFamily="34" charset="-122"/>
                <a:cs typeface="Arial" pitchFamily="34" charset="-120"/>
              </a:rPr>
              <a:t>주간보고 초안 한 건 만드는 시간</a:t>
            </a:r>
            <a:endParaRPr lang="en-US" sz="1400" dirty="0"/>
          </a:p>
          <a:p>
            <a:pPr marL="0" indent="0" algn="l">
              <a:lnSpc>
                <a:spcPts val="2100"/>
              </a:lnSpc>
              <a:buNone/>
            </a:pPr>
            <a:r>
              <a:rPr lang="en-US" sz="1400" dirty="0">
                <a:solidFill>
                  <a:srgbClr val="4A5563"/>
                </a:solidFill>
                <a:latin typeface="Arial" pitchFamily="34" charset="0"/>
                <a:ea typeface="Arial" pitchFamily="34" charset="-122"/>
                <a:cs typeface="Arial" pitchFamily="34" charset="-120"/>
              </a:rPr>
              <a:t>가장 오래 걸린 경우 11.3초</a:t>
            </a:r>
            <a:endParaRPr lang="en-US" sz="1400" dirty="0"/>
          </a:p>
        </p:txBody>
      </p:sp>
      <p:sp>
        <p:nvSpPr>
          <p:cNvPr id="10" name="Shape 8"/>
          <p:cNvSpPr/>
          <p:nvPr/>
        </p:nvSpPr>
        <p:spPr>
          <a:xfrm>
            <a:off x="7964964" y="1923337"/>
            <a:ext cx="3407807" cy="1873568"/>
          </a:xfrm>
          <a:prstGeom prst="roundRect">
            <a:avLst>
              <a:gd name="adj" fmla="val 7795"/>
            </a:avLst>
          </a:prstGeom>
          <a:solidFill>
            <a:srgbClr val="FFFFFF"/>
          </a:solidFill>
          <a:ln w="12700">
            <a:solidFill>
              <a:srgbClr val="D9D6CC"/>
            </a:solidFill>
            <a:prstDash val="solid"/>
          </a:ln>
        </p:spPr>
      </p:sp>
      <p:sp>
        <p:nvSpPr>
          <p:cNvPr id="11" name="Text 9"/>
          <p:cNvSpPr/>
          <p:nvPr/>
        </p:nvSpPr>
        <p:spPr>
          <a:xfrm>
            <a:off x="8222774" y="2181147"/>
            <a:ext cx="2978952"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2D6CDF"/>
                </a:solidFill>
                <a:latin typeface="Arial" pitchFamily="34" charset="0"/>
                <a:ea typeface="Arial" pitchFamily="34" charset="-122"/>
                <a:cs typeface="Arial" pitchFamily="34" charset="-120"/>
              </a:rPr>
              <a:t>0번</a:t>
            </a:r>
            <a:endParaRPr lang="en-US" sz="4800" dirty="0"/>
          </a:p>
        </p:txBody>
      </p:sp>
      <p:sp>
        <p:nvSpPr>
          <p:cNvPr id="12" name="Text 10"/>
          <p:cNvSpPr/>
          <p:nvPr/>
        </p:nvSpPr>
        <p:spPr>
          <a:xfrm>
            <a:off x="8222774" y="2927905"/>
            <a:ext cx="2978952"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563"/>
                </a:solidFill>
                <a:latin typeface="Arial" pitchFamily="34" charset="0"/>
                <a:ea typeface="Arial" pitchFamily="34" charset="-122"/>
                <a:cs typeface="Arial" pitchFamily="34" charset="-120"/>
              </a:rPr>
              <a:t>AI가 없는 출처를 지어낸 횟수</a:t>
            </a:r>
            <a:endParaRPr lang="en-US" sz="1400" dirty="0"/>
          </a:p>
          <a:p>
            <a:pPr marL="0" indent="0" algn="l">
              <a:lnSpc>
                <a:spcPts val="2100"/>
              </a:lnSpc>
              <a:buNone/>
            </a:pPr>
            <a:r>
              <a:rPr lang="en-US" sz="1400" dirty="0">
                <a:solidFill>
                  <a:srgbClr val="4A5563"/>
                </a:solidFill>
                <a:latin typeface="Arial" pitchFamily="34" charset="0"/>
                <a:ea typeface="Arial" pitchFamily="34" charset="-122"/>
                <a:cs typeface="Arial" pitchFamily="34" charset="-120"/>
              </a:rPr>
              <a:t>(8번 만든 보고서 전체)</a:t>
            </a:r>
            <a:endParaRPr lang="en-US" sz="1400" dirty="0"/>
          </a:p>
        </p:txBody>
      </p:sp>
      <p:sp>
        <p:nvSpPr>
          <p:cNvPr id="13" name="Shape 11"/>
          <p:cNvSpPr/>
          <p:nvPr/>
        </p:nvSpPr>
        <p:spPr>
          <a:xfrm>
            <a:off x="819150" y="3962003"/>
            <a:ext cx="3407807" cy="1873647"/>
          </a:xfrm>
          <a:prstGeom prst="roundRect">
            <a:avLst>
              <a:gd name="adj" fmla="val 7795"/>
            </a:avLst>
          </a:prstGeom>
          <a:solidFill>
            <a:srgbClr val="FFFFFF"/>
          </a:solidFill>
          <a:ln w="12700">
            <a:solidFill>
              <a:srgbClr val="D9D6CC"/>
            </a:solidFill>
            <a:prstDash val="solid"/>
          </a:ln>
        </p:spPr>
      </p:sp>
      <p:sp>
        <p:nvSpPr>
          <p:cNvPr id="14" name="Text 12"/>
          <p:cNvSpPr/>
          <p:nvPr/>
        </p:nvSpPr>
        <p:spPr>
          <a:xfrm>
            <a:off x="1076960" y="4219817"/>
            <a:ext cx="2978952" cy="609838"/>
          </a:xfrm>
          <a:prstGeom prst="rect">
            <a:avLst/>
          </a:prstGeom>
          <a:noFill/>
          <a:ln/>
        </p:spPr>
        <p:txBody>
          <a:bodyPr wrap="square" lIns="0" tIns="0" rIns="0" bIns="0" rtlCol="0" anchor="t">
            <a:normAutofit/>
          </a:bodyPr>
          <a:lstStyle/>
          <a:p>
            <a:pPr marL="0" indent="0" algn="l">
              <a:lnSpc>
                <a:spcPts val="4620"/>
              </a:lnSpc>
              <a:buNone/>
            </a:pPr>
            <a:r>
              <a:rPr lang="en-US" sz="4200" b="1" dirty="0">
                <a:solidFill>
                  <a:srgbClr val="15202B"/>
                </a:solidFill>
                <a:latin typeface="Arial" pitchFamily="34" charset="0"/>
                <a:ea typeface="Arial" pitchFamily="34" charset="-122"/>
                <a:cs typeface="Arial" pitchFamily="34" charset="-120"/>
              </a:rPr>
              <a:t>203개</a:t>
            </a:r>
            <a:endParaRPr lang="en-US" sz="4200" dirty="0"/>
          </a:p>
        </p:txBody>
      </p:sp>
      <p:sp>
        <p:nvSpPr>
          <p:cNvPr id="15" name="Text 13"/>
          <p:cNvSpPr/>
          <p:nvPr/>
        </p:nvSpPr>
        <p:spPr>
          <a:xfrm>
            <a:off x="1076960" y="4880452"/>
            <a:ext cx="2978952" cy="722789"/>
          </a:xfrm>
          <a:prstGeom prst="rect">
            <a:avLst/>
          </a:prstGeom>
          <a:noFill/>
          <a:ln/>
        </p:spPr>
        <p:txBody>
          <a:bodyPr wrap="square" lIns="0" tIns="0" rIns="0" bIns="0" rtlCol="0" anchor="t">
            <a:normAutofit/>
          </a:bodyPr>
          <a:lstStyle/>
          <a:p>
            <a:pPr marL="0" indent="0" algn="l">
              <a:lnSpc>
                <a:spcPts val="1916"/>
              </a:lnSpc>
              <a:buNone/>
            </a:pPr>
            <a:r>
              <a:rPr lang="en-US" sz="1278" dirty="0">
                <a:solidFill>
                  <a:srgbClr val="4A5563"/>
                </a:solidFill>
                <a:latin typeface="Arial" pitchFamily="34" charset="0"/>
                <a:ea typeface="Arial" pitchFamily="34" charset="-122"/>
                <a:cs typeface="Arial" pitchFamily="34" charset="-120"/>
              </a:rPr>
              <a:t>자동 점검 항목 모두 통과</a:t>
            </a:r>
            <a:endParaRPr lang="en-US" sz="1278" dirty="0"/>
          </a:p>
          <a:p>
            <a:pPr marL="0" indent="0" algn="l">
              <a:lnSpc>
                <a:spcPts val="1916"/>
              </a:lnSpc>
              <a:buNone/>
            </a:pPr>
            <a:r>
              <a:rPr lang="en-US" sz="1278" dirty="0">
                <a:solidFill>
                  <a:srgbClr val="4A5563"/>
                </a:solidFill>
                <a:latin typeface="Arial" pitchFamily="34" charset="0"/>
                <a:ea typeface="Arial" pitchFamily="34" charset="-122"/>
                <a:cs typeface="Arial" pitchFamily="34" charset="-120"/>
              </a:rPr>
              <a:t>기록·검색·보안을 고칠 때마다 다시 시험</a:t>
            </a:r>
            <a:endParaRPr lang="en-US" sz="1278" dirty="0"/>
          </a:p>
        </p:txBody>
      </p:sp>
      <p:sp>
        <p:nvSpPr>
          <p:cNvPr id="16" name="Shape 14"/>
          <p:cNvSpPr/>
          <p:nvPr/>
        </p:nvSpPr>
        <p:spPr>
          <a:xfrm>
            <a:off x="4392057" y="3962003"/>
            <a:ext cx="3407807" cy="1873647"/>
          </a:xfrm>
          <a:prstGeom prst="roundRect">
            <a:avLst>
              <a:gd name="adj" fmla="val 7795"/>
            </a:avLst>
          </a:prstGeom>
          <a:solidFill>
            <a:srgbClr val="FFFFFF"/>
          </a:solidFill>
          <a:ln w="12700">
            <a:solidFill>
              <a:srgbClr val="D9D6CC"/>
            </a:solidFill>
            <a:prstDash val="solid"/>
          </a:ln>
        </p:spPr>
      </p:sp>
      <p:sp>
        <p:nvSpPr>
          <p:cNvPr id="17" name="Text 15"/>
          <p:cNvSpPr/>
          <p:nvPr/>
        </p:nvSpPr>
        <p:spPr>
          <a:xfrm>
            <a:off x="4649867" y="4219817"/>
            <a:ext cx="2978952"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5202B"/>
                </a:solidFill>
                <a:latin typeface="Arial" pitchFamily="34" charset="0"/>
                <a:ea typeface="Arial" pitchFamily="34" charset="-122"/>
                <a:cs typeface="Arial" pitchFamily="34" charset="-120"/>
              </a:rPr>
              <a:t>6건</a:t>
            </a:r>
            <a:endParaRPr lang="en-US" sz="4800" dirty="0"/>
          </a:p>
        </p:txBody>
      </p:sp>
      <p:sp>
        <p:nvSpPr>
          <p:cNvPr id="18" name="Text 16"/>
          <p:cNvSpPr/>
          <p:nvPr/>
        </p:nvSpPr>
        <p:spPr>
          <a:xfrm>
            <a:off x="4649867" y="4966574"/>
            <a:ext cx="2978952"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563"/>
                </a:solidFill>
                <a:latin typeface="Arial" pitchFamily="34" charset="0"/>
                <a:ea typeface="Arial" pitchFamily="34" charset="-122"/>
                <a:cs typeface="Arial" pitchFamily="34" charset="-120"/>
              </a:rPr>
              <a:t>AI 보안 점검으로 찾아 고친 문제</a:t>
            </a:r>
            <a:endParaRPr lang="en-US" sz="1400" dirty="0"/>
          </a:p>
          <a:p>
            <a:pPr marL="0" indent="0" algn="l">
              <a:lnSpc>
                <a:spcPts val="2100"/>
              </a:lnSpc>
              <a:buNone/>
            </a:pPr>
            <a:r>
              <a:rPr lang="en-US" sz="1400" dirty="0">
                <a:solidFill>
                  <a:srgbClr val="4A5563"/>
                </a:solidFill>
                <a:latin typeface="Arial" pitchFamily="34" charset="0"/>
                <a:ea typeface="Arial" pitchFamily="34" charset="-122"/>
                <a:cs typeface="Arial" pitchFamily="34" charset="-120"/>
              </a:rPr>
              <a:t>직접 재현해 보고 고친 뒤 다시 확인</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35E"/>
                </a:solidFill>
                <a:latin typeface="Arial" pitchFamily="34" charset="0"/>
                <a:ea typeface="Arial" pitchFamily="34" charset="-122"/>
                <a:cs typeface="Arial" pitchFamily="34" charset="-120"/>
              </a:rPr>
              <a:t>06 · 원칙</a:t>
            </a:r>
            <a:endParaRPr lang="en-US" sz="1400" dirty="0"/>
          </a:p>
        </p:txBody>
      </p:sp>
      <p:sp>
        <p:nvSpPr>
          <p:cNvPr id="3" name="Text 1"/>
          <p:cNvSpPr>
            <a:spLocks noGrp="1"/>
          </p:cNvSpPr>
          <p:nvPr>
            <p:ph type="title"/>
          </p:nvPr>
        </p:nvSpPr>
        <p:spPr>
          <a:xfrm>
            <a:off x="812800" y="1163321"/>
            <a:ext cx="10883392" cy="55118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6F5F1"/>
                </a:solidFill>
                <a:latin typeface="Arial" pitchFamily="34" charset="0"/>
                <a:ea typeface="Arial" pitchFamily="34" charset="-122"/>
                <a:cs typeface="Arial" pitchFamily="34" charset="-120"/>
              </a:rPr>
              <a:t>감시가 아니라, 나를 위한 기록</a:t>
            </a:r>
            <a:endParaRPr lang="en-US" sz="3600" dirty="0"/>
          </a:p>
        </p:txBody>
      </p:sp>
      <p:sp>
        <p:nvSpPr>
          <p:cNvPr id="4" name="Shape 2"/>
          <p:cNvSpPr/>
          <p:nvPr/>
        </p:nvSpPr>
        <p:spPr>
          <a:xfrm>
            <a:off x="812800" y="2044700"/>
            <a:ext cx="5207000" cy="1964690"/>
          </a:xfrm>
          <a:prstGeom prst="roundRect">
            <a:avLst>
              <a:gd name="adj" fmla="val 7757"/>
            </a:avLst>
          </a:prstGeom>
          <a:solidFill>
            <a:srgbClr val="22303D"/>
          </a:solidFill>
          <a:ln/>
        </p:spPr>
      </p:sp>
      <p:sp>
        <p:nvSpPr>
          <p:cNvPr id="5" name="Text 3"/>
          <p:cNvSpPr/>
          <p:nvPr/>
        </p:nvSpPr>
        <p:spPr>
          <a:xfrm>
            <a:off x="1092200" y="2324100"/>
            <a:ext cx="4787646"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7FA8F0"/>
                </a:solidFill>
                <a:latin typeface="Arial" pitchFamily="34" charset="0"/>
                <a:ea typeface="Arial" pitchFamily="34" charset="-122"/>
                <a:cs typeface="Arial" pitchFamily="34" charset="-120"/>
              </a:rPr>
              <a:t>내 PC에만 저장</a:t>
            </a:r>
            <a:endParaRPr lang="en-US" sz="1900" dirty="0"/>
          </a:p>
        </p:txBody>
      </p:sp>
      <p:sp>
        <p:nvSpPr>
          <p:cNvPr id="6" name="Text 4"/>
          <p:cNvSpPr/>
          <p:nvPr/>
        </p:nvSpPr>
        <p:spPr>
          <a:xfrm>
            <a:off x="1092200" y="2715264"/>
            <a:ext cx="4787646" cy="87884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D3DBE3"/>
                </a:solidFill>
                <a:latin typeface="Arial" pitchFamily="34" charset="0"/>
                <a:ea typeface="Arial" pitchFamily="34" charset="-122"/>
                <a:cs typeface="Arial" pitchFamily="34" charset="-120"/>
              </a:rPr>
              <a:t>기록은 내 컴퓨터 밖으로 나가지 않고, 회사로 보내는 기능도 없습니다. 기록할 프로그램을 고르고, 멈추고, 지울 수 있습니다.</a:t>
            </a:r>
            <a:endParaRPr lang="en-US" sz="1400" dirty="0"/>
          </a:p>
        </p:txBody>
      </p:sp>
      <p:sp>
        <p:nvSpPr>
          <p:cNvPr id="7" name="Shape 5"/>
          <p:cNvSpPr/>
          <p:nvPr/>
        </p:nvSpPr>
        <p:spPr>
          <a:xfrm>
            <a:off x="6172200" y="2044700"/>
            <a:ext cx="5207000" cy="1964690"/>
          </a:xfrm>
          <a:prstGeom prst="roundRect">
            <a:avLst>
              <a:gd name="adj" fmla="val 7757"/>
            </a:avLst>
          </a:prstGeom>
          <a:solidFill>
            <a:srgbClr val="22303D"/>
          </a:solidFill>
          <a:ln/>
        </p:spPr>
      </p:sp>
      <p:sp>
        <p:nvSpPr>
          <p:cNvPr id="8" name="Text 6"/>
          <p:cNvSpPr/>
          <p:nvPr/>
        </p:nvSpPr>
        <p:spPr>
          <a:xfrm>
            <a:off x="6451600" y="2324100"/>
            <a:ext cx="4787646"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7FA8F0"/>
                </a:solidFill>
                <a:latin typeface="Arial" pitchFamily="34" charset="0"/>
                <a:ea typeface="Arial" pitchFamily="34" charset="-122"/>
                <a:cs typeface="Arial" pitchFamily="34" charset="-120"/>
              </a:rPr>
              <a:t>허락해야 AI 사용</a:t>
            </a:r>
            <a:endParaRPr lang="en-US" sz="1900" dirty="0"/>
          </a:p>
        </p:txBody>
      </p:sp>
      <p:sp>
        <p:nvSpPr>
          <p:cNvPr id="9" name="Text 7"/>
          <p:cNvSpPr/>
          <p:nvPr/>
        </p:nvSpPr>
        <p:spPr>
          <a:xfrm>
            <a:off x="6451600" y="2715264"/>
            <a:ext cx="4787646" cy="5943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D3DBE3"/>
                </a:solidFill>
                <a:latin typeface="Arial" pitchFamily="34" charset="0"/>
                <a:ea typeface="Arial" pitchFamily="34" charset="-122"/>
                <a:cs typeface="Arial" pitchFamily="34" charset="-120"/>
              </a:rPr>
              <a:t>내가 AI를 켜기 전에는 꺼져 있습니다. 보내기 전에 무엇이 가는지 미리 볼 수 있습니다.</a:t>
            </a:r>
            <a:endParaRPr lang="en-US" sz="1400" dirty="0"/>
          </a:p>
        </p:txBody>
      </p:sp>
      <p:sp>
        <p:nvSpPr>
          <p:cNvPr id="10" name="Shape 8"/>
          <p:cNvSpPr/>
          <p:nvPr/>
        </p:nvSpPr>
        <p:spPr>
          <a:xfrm>
            <a:off x="812800" y="4161792"/>
            <a:ext cx="5207000" cy="1680210"/>
          </a:xfrm>
          <a:prstGeom prst="roundRect">
            <a:avLst>
              <a:gd name="adj" fmla="val 9070"/>
            </a:avLst>
          </a:prstGeom>
          <a:solidFill>
            <a:srgbClr val="22303D"/>
          </a:solidFill>
          <a:ln/>
        </p:spPr>
      </p:sp>
      <p:sp>
        <p:nvSpPr>
          <p:cNvPr id="11" name="Text 9"/>
          <p:cNvSpPr/>
          <p:nvPr/>
        </p:nvSpPr>
        <p:spPr>
          <a:xfrm>
            <a:off x="1092200" y="4441192"/>
            <a:ext cx="4787646"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7FA8F0"/>
                </a:solidFill>
                <a:latin typeface="Arial" pitchFamily="34" charset="0"/>
                <a:ea typeface="Arial" pitchFamily="34" charset="-122"/>
                <a:cs typeface="Arial" pitchFamily="34" charset="-120"/>
              </a:rPr>
              <a:t>비밀 정보는 가림</a:t>
            </a:r>
            <a:endParaRPr lang="en-US" sz="1900" dirty="0"/>
          </a:p>
        </p:txBody>
      </p:sp>
      <p:sp>
        <p:nvSpPr>
          <p:cNvPr id="12" name="Text 10"/>
          <p:cNvSpPr/>
          <p:nvPr/>
        </p:nvSpPr>
        <p:spPr>
          <a:xfrm>
            <a:off x="1092200" y="4832350"/>
            <a:ext cx="4787646" cy="5943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D3DBE3"/>
                </a:solidFill>
                <a:latin typeface="Arial" pitchFamily="34" charset="0"/>
                <a:ea typeface="Arial" pitchFamily="34" charset="-122"/>
                <a:cs typeface="Arial" pitchFamily="34" charset="-120"/>
              </a:rPr>
              <a:t>비밀번호·인증키·주민번호는 AI에 보내기 전에 ***로 가립니다. 비밀번호가 담긴 파일은 아예 저장하지 않습니다.</a:t>
            </a:r>
            <a:endParaRPr lang="en-US" sz="1400" dirty="0"/>
          </a:p>
        </p:txBody>
      </p:sp>
      <p:sp>
        <p:nvSpPr>
          <p:cNvPr id="13" name="Shape 11"/>
          <p:cNvSpPr/>
          <p:nvPr/>
        </p:nvSpPr>
        <p:spPr>
          <a:xfrm>
            <a:off x="6172200" y="4161792"/>
            <a:ext cx="5207000" cy="1680210"/>
          </a:xfrm>
          <a:prstGeom prst="roundRect">
            <a:avLst>
              <a:gd name="adj" fmla="val 9070"/>
            </a:avLst>
          </a:prstGeom>
          <a:solidFill>
            <a:srgbClr val="22303D"/>
          </a:solidFill>
          <a:ln/>
        </p:spPr>
      </p:sp>
      <p:sp>
        <p:nvSpPr>
          <p:cNvPr id="14" name="Text 12"/>
          <p:cNvSpPr/>
          <p:nvPr/>
        </p:nvSpPr>
        <p:spPr>
          <a:xfrm>
            <a:off x="6451600" y="4441192"/>
            <a:ext cx="4787646"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7FA8F0"/>
                </a:solidFill>
                <a:latin typeface="Arial" pitchFamily="34" charset="0"/>
                <a:ea typeface="Arial" pitchFamily="34" charset="-122"/>
                <a:cs typeface="Arial" pitchFamily="34" charset="-120"/>
              </a:rPr>
              <a:t>AI는 읽기만</a:t>
            </a:r>
            <a:endParaRPr lang="en-US" sz="1900" dirty="0"/>
          </a:p>
        </p:txBody>
      </p:sp>
      <p:sp>
        <p:nvSpPr>
          <p:cNvPr id="15" name="Text 13"/>
          <p:cNvSpPr/>
          <p:nvPr/>
        </p:nvSpPr>
        <p:spPr>
          <a:xfrm>
            <a:off x="6451600" y="4832350"/>
            <a:ext cx="4787646" cy="59436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D3DBE3"/>
                </a:solidFill>
                <a:latin typeface="Arial" pitchFamily="34" charset="0"/>
                <a:ea typeface="Arial" pitchFamily="34" charset="-122"/>
                <a:cs typeface="Arial" pitchFamily="34" charset="-120"/>
              </a:rPr>
              <a:t>AI는 기록을 읽을 수만 있습니다. 프로그램 실행, 파일 수정, 인터넷 접속은 모두 막혀 있습니다.</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Thanks">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F0A35E"/>
                </a:solidFill>
                <a:latin typeface="Arial" pitchFamily="34" charset="0"/>
                <a:ea typeface="Arial" pitchFamily="34" charset="-122"/>
                <a:cs typeface="Arial" pitchFamily="34" charset="-120"/>
              </a:rPr>
              <a:t>SOLIDEO AX HACKATHON 2026</a:t>
            </a:r>
            <a:endParaRPr lang="en-US" sz="1400" dirty="0"/>
          </a:p>
        </p:txBody>
      </p:sp>
      <p:sp>
        <p:nvSpPr>
          <p:cNvPr id="3" name="Text 1"/>
          <p:cNvSpPr>
            <a:spLocks noGrp="1"/>
          </p:cNvSpPr>
          <p:nvPr>
            <p:ph type="title"/>
          </p:nvPr>
        </p:nvSpPr>
        <p:spPr>
          <a:xfrm>
            <a:off x="812800" y="1906588"/>
            <a:ext cx="10883392" cy="1025525"/>
          </a:xfrm>
          <a:prstGeom prst="rect">
            <a:avLst/>
          </a:prstGeom>
          <a:noFill/>
          <a:ln/>
        </p:spPr>
        <p:txBody>
          <a:bodyPr wrap="square" lIns="0" tIns="0" rIns="0" bIns="0" rtlCol="0" anchor="t">
            <a:normAutofit/>
          </a:bodyPr>
          <a:lstStyle/>
          <a:p>
            <a:pPr marL="0" indent="0" algn="l">
              <a:lnSpc>
                <a:spcPts val="7875"/>
              </a:lnSpc>
              <a:buNone/>
            </a:pPr>
            <a:r>
              <a:rPr lang="ko-KR" altLang="en-US" sz="7500" b="1" dirty="0">
                <a:solidFill>
                  <a:srgbClr val="F6F5F1"/>
                </a:solidFill>
                <a:latin typeface="Arial" pitchFamily="34" charset="0"/>
                <a:ea typeface="Arial" pitchFamily="34" charset="-122"/>
                <a:cs typeface="Arial" pitchFamily="34" charset="-120"/>
              </a:rPr>
              <a:t>감사합니다</a:t>
            </a:r>
            <a:endParaRPr lang="en-US" sz="7500" dirty="0"/>
          </a:p>
        </p:txBody>
      </p:sp>
      <p:sp>
        <p:nvSpPr>
          <p:cNvPr id="4" name="Text 2"/>
          <p:cNvSpPr/>
          <p:nvPr/>
        </p:nvSpPr>
        <p:spPr>
          <a:xfrm>
            <a:off x="812800" y="3160713"/>
            <a:ext cx="10883392" cy="916940"/>
          </a:xfrm>
          <a:prstGeom prst="rect">
            <a:avLst/>
          </a:prstGeom>
          <a:noFill/>
          <a:ln/>
        </p:spPr>
        <p:txBody>
          <a:bodyPr wrap="square" lIns="0" tIns="0" rIns="0" bIns="0" rtlCol="0" anchor="t">
            <a:normAutofit/>
          </a:bodyPr>
          <a:lstStyle/>
          <a:p>
            <a:pPr marL="0" indent="0" algn="l">
              <a:lnSpc>
                <a:spcPts val="3510"/>
              </a:lnSpc>
              <a:buNone/>
            </a:pPr>
            <a:r>
              <a:rPr lang="ko-KR" altLang="en-US" sz="2600" b="1" dirty="0">
                <a:solidFill>
                  <a:srgbClr val="F6F5F1"/>
                </a:solidFill>
                <a:latin typeface="Arial" pitchFamily="34" charset="0"/>
                <a:ea typeface="Arial" pitchFamily="34" charset="-122"/>
                <a:cs typeface="Arial" pitchFamily="34" charset="-120"/>
              </a:rPr>
              <a:t>작업 기록 앱</a:t>
            </a:r>
            <a:endParaRPr lang="en-US" sz="2600" dirty="0"/>
          </a:p>
          <a:p>
            <a:pPr marL="0" indent="0" algn="l">
              <a:lnSpc>
                <a:spcPts val="3510"/>
              </a:lnSpc>
              <a:buNone/>
            </a:pPr>
            <a:r>
              <a:rPr lang="ko-KR" altLang="en-US" sz="2600" dirty="0">
                <a:solidFill>
                  <a:srgbClr val="F6F5F1"/>
                </a:solidFill>
                <a:latin typeface="Arial" pitchFamily="34" charset="0"/>
                <a:ea typeface="Arial" pitchFamily="34" charset="-122"/>
                <a:cs typeface="Arial" pitchFamily="34" charset="-120"/>
              </a:rPr>
              <a:t>기억 말고 </a:t>
            </a:r>
            <a:r>
              <a:rPr lang="ko-KR" altLang="en-US" sz="2600" dirty="0">
                <a:solidFill>
                  <a:srgbClr val="7FA8F0"/>
                </a:solidFill>
                <a:latin typeface="Arial" pitchFamily="34" charset="0"/>
                <a:ea typeface="Arial" pitchFamily="34" charset="-122"/>
                <a:cs typeface="Arial" pitchFamily="34" charset="-120"/>
              </a:rPr>
              <a:t>기록</a:t>
            </a:r>
            <a:r>
              <a:rPr lang="ko-KR" altLang="en-US" sz="2600" dirty="0">
                <a:solidFill>
                  <a:srgbClr val="F6F5F1"/>
                </a:solidFill>
                <a:latin typeface="Arial" pitchFamily="34" charset="0"/>
                <a:ea typeface="Arial" pitchFamily="34" charset="-122"/>
                <a:cs typeface="Arial" pitchFamily="34" charset="-120"/>
              </a:rPr>
              <a:t>으로 보고합니다.</a:t>
            </a:r>
            <a:endParaRPr lang="en-US" sz="2600" dirty="0"/>
          </a:p>
        </p:txBody>
      </p:sp>
      <p:sp>
        <p:nvSpPr>
          <p:cNvPr id="5" name="Text 3"/>
          <p:cNvSpPr/>
          <p:nvPr/>
        </p:nvSpPr>
        <p:spPr>
          <a:xfrm>
            <a:off x="812800" y="4306253"/>
            <a:ext cx="10883392" cy="635000"/>
          </a:xfrm>
          <a:prstGeom prst="rect">
            <a:avLst/>
          </a:prstGeom>
          <a:noFill/>
          <a:ln/>
        </p:spPr>
        <p:txBody>
          <a:bodyPr wrap="square" lIns="0" tIns="0" rIns="0" bIns="0" rtlCol="0" anchor="t">
            <a:normAutofit/>
          </a:bodyPr>
          <a:lstStyle/>
          <a:p>
            <a:pPr marL="0" indent="0" algn="l">
              <a:lnSpc>
                <a:spcPts val="2400"/>
              </a:lnSpc>
              <a:buNone/>
            </a:pPr>
            <a:r>
              <a:rPr lang="ko-KR" altLang="en-US" sz="1600" dirty="0">
                <a:solidFill>
                  <a:srgbClr val="B8C4D0"/>
                </a:solidFill>
                <a:latin typeface="Arial" pitchFamily="34" charset="0"/>
                <a:ea typeface="Arial" pitchFamily="34" charset="-122"/>
                <a:cs typeface="Arial" pitchFamily="34" charset="-120"/>
              </a:rPr>
              <a:t>질문 받겠습니다.</a:t>
            </a:r>
            <a:endParaRPr lang="en-US" sz="1600" dirty="0"/>
          </a:p>
        </p:txBody>
      </p:sp>
      <p:sp>
        <p:nvSpPr>
          <p:cNvPr id="6" name="Text 4"/>
          <p:cNvSpPr/>
          <p:nvPr/>
        </p:nvSpPr>
        <p:spPr>
          <a:xfrm>
            <a:off x="812800" y="5760720"/>
            <a:ext cx="104317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5F1"/>
                </a:solidFill>
                <a:latin typeface="Arial" pitchFamily="34" charset="0"/>
                <a:ea typeface="Arial" pitchFamily="34" charset="-122"/>
                <a:cs typeface="Arial" pitchFamily="34" charset="-120"/>
              </a:rPr>
              <a:t>팀 대인배</a:t>
            </a:r>
            <a:endParaRPr lang="en-US" sz="1600" dirty="0"/>
          </a:p>
        </p:txBody>
      </p:sp>
    </p:spTree>
  </p:cSld>
  <p:clrMapOvr>
    <a:masterClrMapping/>
  </p:clrMapOvr>
</p:sld>
</file>

<file path=ppt/theme/theme1.xml><?xml version="1.0" encoding="utf-8"?>
<a:theme xmlns:a="http://schemas.openxmlformats.org/drawingml/2006/main" name="작업 기록 — 팀 대인배">
  <a:themeElements>
    <a:clrScheme name="작업 기록 — 팀 대인배">
      <a:dk1>
        <a:srgbClr val="15202B"/>
      </a:dk1>
      <a:lt1>
        <a:srgbClr val="F6F5F1"/>
      </a:lt1>
      <a:dk2>
        <a:srgbClr val="4D555D"/>
      </a:dk2>
      <a:lt2>
        <a:srgbClr val="E0E0DD"/>
      </a:lt2>
      <a:accent1>
        <a:srgbClr val="2D6CDF"/>
      </a:accent1>
      <a:accent2>
        <a:srgbClr val="F0A35E"/>
      </a:accent2>
      <a:accent3>
        <a:srgbClr val="C4621C"/>
      </a:accent3>
      <a:accent4>
        <a:srgbClr val="7FA8F0"/>
      </a:accent4>
      <a:accent5>
        <a:srgbClr val="9A4A12"/>
      </a:accent5>
      <a:accent6>
        <a:srgbClr val="4A5563"/>
      </a:accent6>
      <a:hlink>
        <a:srgbClr val="0563C1"/>
      </a:hlink>
      <a:folHlink>
        <a:srgbClr val="954F72"/>
      </a:folHlink>
    </a:clrScheme>
    <a:fontScheme name="작업 기록 — 팀 대인배">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1397</Words>
  <Application>Microsoft Office PowerPoint</Application>
  <PresentationFormat>와이드스크린</PresentationFormat>
  <Paragraphs>150</Paragraphs>
  <Slides>11</Slides>
  <Notes>10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11</vt:i4>
      </vt:variant>
    </vt:vector>
  </HeadingPairs>
  <TitlesOfParts>
    <vt:vector size="14" baseType="lpstr">
      <vt:lpstr>맑은 고딕</vt:lpstr>
      <vt:lpstr>Arial</vt:lpstr>
      <vt:lpstr>작업 기록 — 팀 대인배</vt:lpstr>
      <vt:lpstr>작업 기록 앱</vt:lpstr>
      <vt:lpstr>금요일 오후, 주간보고 앞에서</vt:lpstr>
      <vt:lpstr>자동으로 기록하고, 정리하고, 대신 쓴다</vt:lpstr>
      <vt:lpstr>AI가 쓰고, 프로그램이 검사한다</vt:lpstr>
      <vt:lpstr>어떤 도구로 만들고, AI는 어디에 썼나</vt:lpstr>
      <vt:lpstr>본 것보다, 실제로 고친 것을 기록</vt:lpstr>
      <vt:lpstr>버튼 한 번에 주간보고 초안</vt:lpstr>
      <vt:lpstr>기록에 있으면 출처와 함께, 없으면 모른다고</vt:lpstr>
      <vt:lpstr>직접 재 본 숫자만 적었습니다</vt:lpstr>
      <vt:lpstr>감시가 아니라, 나를 위한 기록</vt:lpstr>
      <vt:lpstr>감사합니다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작업 기록 — 팀 대인배</dc:title>
  <dc:subject/>
  <dc:creator/>
  <cp:lastModifiedBy>Sang Ok Shin</cp:lastModifiedBy>
  <cp:revision>14</cp:revision>
  <dcterms:created xsi:type="dcterms:W3CDTF">2026-10-21T11:25:28Z</dcterms:created>
  <dcterms:modified xsi:type="dcterms:W3CDTF">2026-10-21T12:04:08Z</dcterms:modified>
</cp:coreProperties>
</file>